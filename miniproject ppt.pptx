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73" r:id="rId3"/>
    <p:sldId id="258" r:id="rId4"/>
    <p:sldId id="259" r:id="rId5"/>
    <p:sldId id="268" r:id="rId6"/>
    <p:sldId id="261" r:id="rId7"/>
    <p:sldId id="262" r:id="rId8"/>
    <p:sldId id="265" r:id="rId9"/>
    <p:sldId id="266" r:id="rId10"/>
    <p:sldId id="272" r:id="rId11"/>
    <p:sldId id="271" r:id="rId12"/>
    <p:sldId id="270" r:id="rId13"/>
    <p:sldId id="267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033" autoAdjust="0"/>
  </p:normalViewPr>
  <p:slideViewPr>
    <p:cSldViewPr snapToGrid="0" snapToObjects="1">
      <p:cViewPr varScale="1">
        <p:scale>
          <a:sx n="78" d="100"/>
          <a:sy n="78" d="100"/>
        </p:scale>
        <p:origin x="850" y="72"/>
      </p:cViewPr>
      <p:guideLst>
        <p:guide orient="horz" pos="2160"/>
        <p:guide pos="2880"/>
      </p:guideLst>
    </p:cSldViewPr>
  </p:slideViewPr>
  <p:notesTextViewPr>
    <p:cViewPr>
      <p:scale>
        <a:sx n="50" d="100"/>
        <a:sy n="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0B79DBE7-953C-FF4F-34A2-FBB4D6B1A9C4}"/>
              </a:ext>
            </a:extLst>
          </p:cNvPr>
          <p:cNvSpPr txBox="1">
            <a:spLocks/>
          </p:cNvSpPr>
          <p:nvPr/>
        </p:nvSpPr>
        <p:spPr>
          <a:xfrm>
            <a:off x="257175" y="696367"/>
            <a:ext cx="7702278" cy="1750515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br>
              <a:rPr lang="en-US" dirty="0"/>
            </a:br>
            <a:r>
              <a:rPr lang="en-US" dirty="0"/>
              <a:t>           </a:t>
            </a:r>
            <a:r>
              <a:rPr lang="en-US" b="1" u="sng" dirty="0"/>
              <a:t>CAMPUS-OS</a:t>
            </a:r>
            <a:br>
              <a:rPr lang="en-US" dirty="0"/>
            </a:br>
            <a:r>
              <a:rPr lang="en-US" dirty="0"/>
              <a:t>                 </a:t>
            </a:r>
            <a:endParaRPr lang="en-US" sz="1600" dirty="0">
              <a:ea typeface="Calibri"/>
              <a:cs typeface="Calibri"/>
            </a:endParaRP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1F7409BB-AB60-C25D-7DFC-EBD9F1869E59}"/>
              </a:ext>
            </a:extLst>
          </p:cNvPr>
          <p:cNvSpPr txBox="1">
            <a:spLocks/>
          </p:cNvSpPr>
          <p:nvPr/>
        </p:nvSpPr>
        <p:spPr>
          <a:xfrm>
            <a:off x="762000" y="3886200"/>
            <a:ext cx="3810000" cy="2740742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400" b="1" dirty="0"/>
              <a:t>STUDENT NAME</a:t>
            </a:r>
            <a:r>
              <a:rPr lang="en-US" sz="1800" dirty="0"/>
              <a:t> </a:t>
            </a:r>
            <a:endParaRPr lang="en-US" sz="3400" dirty="0"/>
          </a:p>
          <a:p>
            <a:r>
              <a:rPr lang="en-US" dirty="0"/>
              <a:t>1.Rishabh Singh       2400320100909</a:t>
            </a:r>
          </a:p>
          <a:p>
            <a:r>
              <a:rPr lang="en-US" dirty="0"/>
              <a:t>2.Rankendra Singh</a:t>
            </a:r>
          </a:p>
          <a:p>
            <a:pPr marL="0" indent="0">
              <a:buNone/>
            </a:pPr>
            <a:r>
              <a:rPr lang="en-US" dirty="0"/>
              <a:t>      2400320100890</a:t>
            </a:r>
          </a:p>
          <a:p>
            <a:r>
              <a:rPr lang="en-US" dirty="0"/>
              <a:t>3.Raj Rao</a:t>
            </a:r>
          </a:p>
          <a:p>
            <a:pPr marL="0" indent="0">
              <a:buNone/>
            </a:pPr>
            <a:r>
              <a:rPr lang="en-US" dirty="0"/>
              <a:t>      2400320100876</a:t>
            </a:r>
          </a:p>
          <a:p>
            <a:r>
              <a:rPr lang="en-US" dirty="0"/>
              <a:t>4.Rohit</a:t>
            </a:r>
          </a:p>
          <a:p>
            <a:pPr marL="0" indent="0">
              <a:buNone/>
            </a:pPr>
            <a:r>
              <a:rPr lang="en-US" dirty="0"/>
              <a:t>      2400320100925</a:t>
            </a:r>
          </a:p>
          <a:p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842445CA-66E5-269C-00C6-8FAE54012F6E}"/>
              </a:ext>
            </a:extLst>
          </p:cNvPr>
          <p:cNvSpPr txBox="1">
            <a:spLocks/>
          </p:cNvSpPr>
          <p:nvPr/>
        </p:nvSpPr>
        <p:spPr>
          <a:xfrm>
            <a:off x="8253412" y="3810000"/>
            <a:ext cx="2514600" cy="1752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SUPERVISOR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NAME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600" b="1" dirty="0"/>
              <a:t>Dr. Shweta Roy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7" name="Picture 16" descr="images.jpg">
            <a:extLst>
              <a:ext uri="{FF2B5EF4-FFF2-40B4-BE49-F238E27FC236}">
                <a16:creationId xmlns:a16="http://schemas.microsoft.com/office/drawing/2014/main" id="{E1D50AA0-64A0-2056-52B9-E02BDEF558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206478"/>
            <a:ext cx="1266825" cy="126682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FDD59A8-2AC2-9902-E8FA-76ED980AF0E3}"/>
              </a:ext>
            </a:extLst>
          </p:cNvPr>
          <p:cNvSpPr txBox="1"/>
          <p:nvPr/>
        </p:nvSpPr>
        <p:spPr>
          <a:xfrm>
            <a:off x="1395412" y="1963192"/>
            <a:ext cx="685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buNone/>
            </a:pPr>
            <a:r>
              <a:rPr lang="en-IN" sz="1800" b="1" u="sng" dirty="0">
                <a:effectLst/>
                <a:latin typeface="+mn-lt"/>
                <a:ea typeface="Times New Roman" panose="02020603050405020304" pitchFamily="18" charset="0"/>
              </a:rPr>
              <a:t>PREDICTING STUDENT PERFORMANCE USING REGRESSION ANALYSIS</a:t>
            </a:r>
            <a:endParaRPr lang="en-IN" sz="1000" u="sng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1D0E23-C2E7-2F6C-1E56-520C87176418}"/>
              </a:ext>
            </a:extLst>
          </p:cNvPr>
          <p:cNvSpPr txBox="1"/>
          <p:nvPr/>
        </p:nvSpPr>
        <p:spPr>
          <a:xfrm>
            <a:off x="3711679" y="2902797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u="sng" dirty="0"/>
              <a:t>Mini </a:t>
            </a:r>
            <a:r>
              <a:rPr lang="en-US" sz="1800" b="1" u="sng" dirty="0"/>
              <a:t>Project / 5</a:t>
            </a:r>
            <a:r>
              <a:rPr lang="en-US" sz="1800" b="1" u="sng" baseline="30000" dirty="0"/>
              <a:t>th</a:t>
            </a:r>
            <a:r>
              <a:rPr lang="en-US" sz="2000" b="1" u="sng" dirty="0"/>
              <a:t> Sem/ BCS554</a:t>
            </a:r>
            <a:endParaRPr lang="en-IN" b="1" u="sng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461A2C-2A2A-9F73-C95D-F6F10158FBBE}"/>
              </a:ext>
            </a:extLst>
          </p:cNvPr>
          <p:cNvSpPr txBox="1"/>
          <p:nvPr/>
        </p:nvSpPr>
        <p:spPr>
          <a:xfrm>
            <a:off x="640080" y="1747520"/>
            <a:ext cx="92964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sz="2400" b="1" dirty="0"/>
              <a:t>Objective:</a:t>
            </a:r>
            <a:r>
              <a:rPr lang="en-IN" sz="2400" dirty="0"/>
              <a:t> Predict student academic performance using regression-based machine learning. 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sz="2400" b="1" dirty="0"/>
              <a:t>Data:</a:t>
            </a:r>
            <a:r>
              <a:rPr lang="en-IN" sz="2400" dirty="0"/>
              <a:t> Analyze factors such as attendance, previous grades, demographics, and study behaviour. 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sz="2400" b="1" dirty="0"/>
              <a:t>Models:</a:t>
            </a:r>
            <a:r>
              <a:rPr lang="en-IN" sz="2400" dirty="0"/>
              <a:t> Compare Linear, Ridge, Lasso, and Random Forest Regression. 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sz="2400" b="1" dirty="0"/>
              <a:t>Evaluation:</a:t>
            </a:r>
            <a:r>
              <a:rPr lang="en-IN" sz="2400" dirty="0"/>
              <a:t> Measure performance using </a:t>
            </a:r>
            <a:r>
              <a:rPr lang="en-IN" sz="2400" b="1" dirty="0"/>
              <a:t>R², MAE, and RMSE</a:t>
            </a:r>
            <a:r>
              <a:rPr lang="en-IN" sz="2400" dirty="0"/>
              <a:t>. 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sz="2400" b="1" dirty="0"/>
              <a:t>Outcome:</a:t>
            </a:r>
            <a:r>
              <a:rPr lang="en-IN" sz="2400" dirty="0"/>
              <a:t> Identify the best-performing model and key factors affecting student performance. 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sz="2400" b="1" dirty="0"/>
              <a:t>Application:</a:t>
            </a:r>
            <a:r>
              <a:rPr lang="en-IN" sz="2400" dirty="0"/>
              <a:t> Support educational institutions in </a:t>
            </a:r>
            <a:r>
              <a:rPr lang="en-IN" sz="2400" b="1" dirty="0"/>
              <a:t>data-driven decision-making and early academic intervention</a:t>
            </a:r>
            <a:r>
              <a:rPr lang="en-IN" sz="2400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A9251A-A916-D164-82C4-28135324054F}"/>
              </a:ext>
            </a:extLst>
          </p:cNvPr>
          <p:cNvSpPr txBox="1"/>
          <p:nvPr/>
        </p:nvSpPr>
        <p:spPr>
          <a:xfrm>
            <a:off x="726440" y="645467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u="sng" dirty="0"/>
              <a:t>ABSTRACT</a:t>
            </a:r>
            <a:endParaRPr lang="en-IN" b="1" u="sng" dirty="0"/>
          </a:p>
        </p:txBody>
      </p:sp>
      <p:pic>
        <p:nvPicPr>
          <p:cNvPr id="7" name="Picture 6" descr="images.jpg">
            <a:extLst>
              <a:ext uri="{FF2B5EF4-FFF2-40B4-BE49-F238E27FC236}">
                <a16:creationId xmlns:a16="http://schemas.microsoft.com/office/drawing/2014/main" id="{36B6D6D6-2CD7-BD22-D5BD-A9C0094BB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1587" y="363283"/>
            <a:ext cx="1266825" cy="126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283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84048"/>
            <a:ext cx="4729885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746"/>
                </a:solidFill>
              </a:defRPr>
            </a:pPr>
            <a:r>
              <a:rPr sz="4400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0685" y="1158830"/>
            <a:ext cx="295664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8"/>
                </a:solidFill>
              </a:defRPr>
            </a:pPr>
            <a:r>
              <a:rPr sz="140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Why prediction is needed in 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6976" y="1729004"/>
            <a:ext cx="5486400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v"/>
              <a:defRPr sz="1900">
                <a:solidFill>
                  <a:srgbClr val="2D3741"/>
                </a:solidFill>
              </a:defRPr>
            </a:pPr>
            <a:r>
              <a:rPr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Academic performance depends on multiple interacting factors.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v"/>
              <a:defRPr sz="1900">
                <a:solidFill>
                  <a:srgbClr val="2D3741"/>
                </a:solidFill>
              </a:defRPr>
            </a:pPr>
            <a:r>
              <a:rPr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Institutions often identify at-risk students only after final results.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v"/>
              <a:defRPr sz="1900">
                <a:solidFill>
                  <a:srgbClr val="2D3741"/>
                </a:solidFill>
              </a:defRPr>
            </a:pPr>
            <a:r>
              <a:rPr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Collected data is not always converted into proactive insight.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v"/>
              <a:defRPr sz="1900">
                <a:solidFill>
                  <a:srgbClr val="2D3741"/>
                </a:solidFill>
              </a:defRPr>
            </a:pPr>
            <a:r>
              <a:rPr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 transparent regression model can quantify influential factors.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32840" y="3176808"/>
            <a:ext cx="1417320" cy="914400"/>
          </a:xfrm>
          <a:prstGeom prst="roundRect">
            <a:avLst/>
          </a:prstGeom>
          <a:solidFill>
            <a:srgbClr val="23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24280" y="3446112"/>
            <a:ext cx="1234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dirty="0"/>
              <a:t>Data collected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017224" y="3469416"/>
            <a:ext cx="502920" cy="320040"/>
          </a:xfrm>
          <a:prstGeom prst="rightArrow">
            <a:avLst/>
          </a:prstGeom>
          <a:solidFill>
            <a:srgbClr val="646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278760" y="3157144"/>
            <a:ext cx="1417320" cy="914400"/>
          </a:xfrm>
          <a:prstGeom prst="roundRect">
            <a:avLst/>
          </a:prstGeom>
          <a:solidFill>
            <a:srgbClr val="EB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70200" y="3446112"/>
            <a:ext cx="1234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dirty="0"/>
              <a:t>Late detection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692640" y="3469416"/>
            <a:ext cx="502920" cy="320040"/>
          </a:xfrm>
          <a:prstGeom prst="rightArrow">
            <a:avLst/>
          </a:prstGeom>
          <a:solidFill>
            <a:srgbClr val="646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924680" y="3176808"/>
            <a:ext cx="1417320" cy="914400"/>
          </a:xfrm>
          <a:prstGeom prst="roundRect">
            <a:avLst/>
          </a:prstGeom>
          <a:solidFill>
            <a:srgbClr val="19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16120" y="3455944"/>
            <a:ext cx="1234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dirty="0"/>
              <a:t>Missed support</a:t>
            </a:r>
          </a:p>
        </p:txBody>
      </p:sp>
      <p:pic>
        <p:nvPicPr>
          <p:cNvPr id="16" name="Picture 15" descr="images.jpg">
            <a:extLst>
              <a:ext uri="{FF2B5EF4-FFF2-40B4-BE49-F238E27FC236}">
                <a16:creationId xmlns:a16="http://schemas.microsoft.com/office/drawing/2014/main" id="{738DC789-EF80-3FF3-1B03-34EEDA617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1587" y="363283"/>
            <a:ext cx="1266825" cy="12668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images.jpg">
            <a:extLst>
              <a:ext uri="{FF2B5EF4-FFF2-40B4-BE49-F238E27FC236}">
                <a16:creationId xmlns:a16="http://schemas.microsoft.com/office/drawing/2014/main" id="{AD1ADB31-D4D8-D3FF-9107-D9CF6F09D5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7654" y="327013"/>
            <a:ext cx="1266825" cy="12668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31952" y="329078"/>
            <a:ext cx="2860783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746"/>
                </a:solidFill>
              </a:defRPr>
            </a:pPr>
            <a:r>
              <a:rPr sz="4800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1952" y="1256802"/>
            <a:ext cx="399327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8"/>
                </a:solidFill>
              </a:defRPr>
            </a:pPr>
            <a:r>
              <a:rPr sz="140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From raw records to an interpretable prediction tool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214" y="2182761"/>
            <a:ext cx="6979527" cy="5119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800"/>
              </a:spcBef>
              <a:buFont typeface="Wingdings" panose="05000000000000000000" pitchFamily="2" charset="2"/>
              <a:buChar char="v"/>
              <a:defRPr sz="1200">
                <a:solidFill>
                  <a:srgbClr val="2D3741"/>
                </a:solidFill>
              </a:defRPr>
            </a:pPr>
            <a:r>
              <a:rPr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Preprocess a real-world student dataset.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indent="-171450">
              <a:spcBef>
                <a:spcPts val="800"/>
              </a:spcBef>
              <a:buFont typeface="Wingdings" panose="05000000000000000000" pitchFamily="2" charset="2"/>
              <a:buChar char="v"/>
              <a:defRPr sz="1200">
                <a:solidFill>
                  <a:srgbClr val="2D3741"/>
                </a:solidFill>
              </a:defRPr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Explore relationships and influential features.</a:t>
            </a:r>
          </a:p>
          <a:p>
            <a:pPr marL="171450" indent="-171450">
              <a:spcBef>
                <a:spcPts val="800"/>
              </a:spcBef>
              <a:buFont typeface="Wingdings" panose="05000000000000000000" pitchFamily="2" charset="2"/>
              <a:buChar char="v"/>
              <a:defRPr sz="1200">
                <a:solidFill>
                  <a:srgbClr val="2D3741"/>
                </a:solidFill>
              </a:defRPr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Train Linear, Ridge, Lasso and Random Forest regressors.</a:t>
            </a:r>
          </a:p>
          <a:p>
            <a:pPr marL="171450" indent="-171450">
              <a:spcBef>
                <a:spcPts val="800"/>
              </a:spcBef>
              <a:buFont typeface="Wingdings" panose="05000000000000000000" pitchFamily="2" charset="2"/>
              <a:buChar char="v"/>
              <a:defRPr sz="1200">
                <a:solidFill>
                  <a:srgbClr val="2D3741"/>
                </a:solidFill>
              </a:defRPr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Visualize predictions and residual errors.</a:t>
            </a:r>
          </a:p>
          <a:p>
            <a:pPr marL="171450" indent="-171450">
              <a:spcBef>
                <a:spcPts val="800"/>
              </a:spcBef>
              <a:buFont typeface="Wingdings" panose="05000000000000000000" pitchFamily="2" charset="2"/>
              <a:buChar char="v"/>
              <a:defRPr sz="1200">
                <a:solidFill>
                  <a:srgbClr val="2D3741"/>
                </a:solidFill>
              </a:defRPr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Compare models using R², MAE and RMSE.</a:t>
            </a:r>
          </a:p>
          <a:p>
            <a:pPr marL="171450" indent="-171450">
              <a:spcBef>
                <a:spcPts val="800"/>
              </a:spcBef>
              <a:buFont typeface="Wingdings" panose="05000000000000000000" pitchFamily="2" charset="2"/>
              <a:buChar char="v"/>
              <a:defRPr sz="1200">
                <a:solidFill>
                  <a:srgbClr val="2D3741"/>
                </a:solidFill>
              </a:defRPr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Package the workflow into a reusable tool.</a:t>
            </a:r>
          </a:p>
          <a:p>
            <a:pPr>
              <a:spcBef>
                <a:spcPts val="800"/>
              </a:spcBef>
              <a:defRPr sz="1200">
                <a:solidFill>
                  <a:srgbClr val="2D3741"/>
                </a:solidFill>
              </a:defRPr>
            </a:pP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spcBef>
                <a:spcPts val="800"/>
              </a:spcBef>
              <a:defRPr sz="1200">
                <a:solidFill>
                  <a:srgbClr val="2D3741"/>
                </a:solidFill>
              </a:defRPr>
            </a:pPr>
            <a:endParaRPr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B1F3C9A-9F5D-EAAA-3906-42C5960B3D6B}"/>
              </a:ext>
            </a:extLst>
          </p:cNvPr>
          <p:cNvSpPr txBox="1"/>
          <p:nvPr/>
        </p:nvSpPr>
        <p:spPr>
          <a:xfrm>
            <a:off x="401053" y="287376"/>
            <a:ext cx="935254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u="sng" dirty="0"/>
              <a:t>SCOPE of the Problem Statement </a:t>
            </a:r>
            <a:endParaRPr lang="en-IN" sz="4800" b="1" u="sng" dirty="0"/>
          </a:p>
        </p:txBody>
      </p:sp>
      <p:pic>
        <p:nvPicPr>
          <p:cNvPr id="6" name="Picture 5" descr="images.jpg">
            <a:extLst>
              <a:ext uri="{FF2B5EF4-FFF2-40B4-BE49-F238E27FC236}">
                <a16:creationId xmlns:a16="http://schemas.microsoft.com/office/drawing/2014/main" id="{C12BE8D0-41D8-324D-0E7D-6DAA7C345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1958" y="252313"/>
            <a:ext cx="1266825" cy="12668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73B3749-9E24-06AF-CBDC-F74B681CEAFE}"/>
              </a:ext>
            </a:extLst>
          </p:cNvPr>
          <p:cNvSpPr txBox="1"/>
          <p:nvPr/>
        </p:nvSpPr>
        <p:spPr>
          <a:xfrm>
            <a:off x="737938" y="1519138"/>
            <a:ext cx="8583043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algn="just">
              <a:buFont typeface="Wingdings" panose="05000000000000000000" pitchFamily="2" charset="2"/>
              <a:buChar char="v"/>
            </a:pPr>
            <a:r>
              <a:rPr lang="en-IN" sz="2800" dirty="0"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Data Preprocessing Module: cleaning, encoding and normalizing raw student records.</a:t>
            </a:r>
            <a:endParaRPr lang="en-IN" sz="2800" dirty="0">
              <a:effectLst/>
              <a:latin typeface="+mn-lt"/>
              <a:ea typeface="Times New Roman" panose="02020603050405020304" pitchFamily="18" charset="0"/>
            </a:endParaRPr>
          </a:p>
          <a:p>
            <a:pPr marL="457200" lvl="0" indent="-457200" algn="just">
              <a:buFont typeface="Wingdings" panose="05000000000000000000" pitchFamily="2" charset="2"/>
              <a:buChar char="v"/>
            </a:pPr>
            <a:r>
              <a:rPr lang="en-IN" sz="2800" dirty="0"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Exploratory Data Analysis: correlation heatmaps, distribution and trend visualizations.</a:t>
            </a:r>
            <a:endParaRPr lang="en-IN" sz="2800" dirty="0">
              <a:effectLst/>
              <a:latin typeface="+mn-lt"/>
              <a:ea typeface="Times New Roman" panose="02020603050405020304" pitchFamily="18" charset="0"/>
            </a:endParaRPr>
          </a:p>
          <a:p>
            <a:pPr marL="457200" lvl="0" indent="-457200" algn="just">
              <a:buFont typeface="Wingdings" panose="05000000000000000000" pitchFamily="2" charset="2"/>
              <a:buChar char="v"/>
            </a:pPr>
            <a:r>
              <a:rPr lang="en-IN" sz="2800" dirty="0"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Model Building: implementation of multiple regression algorithms for comparison.</a:t>
            </a:r>
            <a:endParaRPr lang="en-IN" sz="2800" dirty="0">
              <a:effectLst/>
              <a:latin typeface="+mn-lt"/>
              <a:ea typeface="Times New Roman" panose="02020603050405020304" pitchFamily="18" charset="0"/>
            </a:endParaRPr>
          </a:p>
          <a:p>
            <a:pPr marL="457200" lvl="0" indent="-457200" algn="just">
              <a:buFont typeface="Wingdings" panose="05000000000000000000" pitchFamily="2" charset="2"/>
              <a:buChar char="v"/>
            </a:pPr>
            <a:r>
              <a:rPr lang="en-IN" sz="2800" dirty="0"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Model Evaluation: quantitative comparison using R², MAE and RMSE across all models.</a:t>
            </a:r>
            <a:endParaRPr lang="en-IN" sz="2800" dirty="0">
              <a:effectLst/>
              <a:latin typeface="+mn-lt"/>
              <a:ea typeface="Times New Roman" panose="02020603050405020304" pitchFamily="18" charset="0"/>
            </a:endParaRPr>
          </a:p>
          <a:p>
            <a:pPr marL="457200" lvl="0" indent="-457200" algn="just">
              <a:buFont typeface="Wingdings" panose="05000000000000000000" pitchFamily="2" charset="2"/>
              <a:buChar char="v"/>
            </a:pPr>
            <a:r>
              <a:rPr lang="en-IN" sz="2800" dirty="0">
                <a:solidFill>
                  <a:schemeClr val="tx1"/>
                </a:solidFill>
                <a:effectLst/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Future AI Layer: extension to classification-based risk categorization and integration with institutional dashboards.</a:t>
            </a:r>
            <a:endParaRPr lang="en-IN" sz="2800" dirty="0">
              <a:effectLst/>
              <a:latin typeface="+mn-lt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5743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images.jpg">
            <a:extLst>
              <a:ext uri="{FF2B5EF4-FFF2-40B4-BE49-F238E27FC236}">
                <a16:creationId xmlns:a16="http://schemas.microsoft.com/office/drawing/2014/main" id="{FA9D301A-D793-1026-8224-E733F055AF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9155" y="253555"/>
            <a:ext cx="1266825" cy="12668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84048"/>
            <a:ext cx="699858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746"/>
                </a:solidFill>
              </a:defRPr>
            </a:pPr>
            <a:r>
              <a:rPr sz="4000" u="sng" dirty="0"/>
              <a:t>Related Work and Research Gap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DA50FCE-D525-4ADC-6E82-4AA59182A84C}"/>
              </a:ext>
            </a:extLst>
          </p:cNvPr>
          <p:cNvSpPr txBox="1"/>
          <p:nvPr/>
        </p:nvSpPr>
        <p:spPr>
          <a:xfrm>
            <a:off x="502921" y="1520380"/>
            <a:ext cx="9543662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sz="2800" b="1" dirty="0"/>
              <a:t>Nasution et al. (2024):</a:t>
            </a:r>
            <a:r>
              <a:rPr lang="en-IN" sz="2800" dirty="0"/>
              <a:t> Gender, absence rate, and prior GPA significantly influence final CGPA. 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sz="2800" b="1" dirty="0"/>
              <a:t>De Guzman et al. (2022):</a:t>
            </a:r>
            <a:r>
              <a:rPr lang="en-IN" sz="2800" dirty="0"/>
              <a:t> Multiple Linear Regression effectively predicts performance using admission and demographic data. 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sz="2800" b="1" dirty="0"/>
              <a:t>IEEE (2020):</a:t>
            </a:r>
            <a:r>
              <a:rPr lang="en-IN" sz="2800" dirty="0"/>
              <a:t> Feature selection/dimensionality reduction improves regression-based prediction. 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sz="2800" b="1" dirty="0"/>
              <a:t>Scientific Reports (2025):</a:t>
            </a:r>
            <a:r>
              <a:rPr lang="en-IN" sz="2800" dirty="0"/>
              <a:t> Comparing multiple ML models improves prediction accuracy and interpretability. </a:t>
            </a:r>
          </a:p>
          <a:p>
            <a:pPr marL="342900" lvl="0" indent="-342900">
              <a:buFont typeface="Wingdings" panose="05000000000000000000" pitchFamily="2" charset="2"/>
              <a:buChar char="v"/>
            </a:pPr>
            <a:r>
              <a:rPr lang="en-IN" sz="2800" b="1" dirty="0"/>
              <a:t>Research Gap:</a:t>
            </a:r>
            <a:r>
              <a:rPr lang="en-IN" sz="2800" dirty="0"/>
              <a:t> Most studies focus on a single regression model and institution-specific datasets.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384048"/>
            <a:ext cx="4023666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746"/>
                </a:solidFill>
              </a:defRPr>
            </a:pPr>
            <a:r>
              <a:rPr sz="4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Proposed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4820" y="1057210"/>
            <a:ext cx="292580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8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A standard, reproducible data-science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240280"/>
            <a:ext cx="1234440" cy="868680"/>
          </a:xfrm>
          <a:prstGeom prst="roundRect">
            <a:avLst/>
          </a:prstGeom>
          <a:solidFill>
            <a:srgbClr val="23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496312"/>
            <a:ext cx="1143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Collect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856231" y="2532888"/>
            <a:ext cx="292608" cy="228600"/>
          </a:xfrm>
          <a:prstGeom prst="rightArrow">
            <a:avLst/>
          </a:prstGeom>
          <a:solidFill>
            <a:srgbClr val="646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221992" y="2240280"/>
            <a:ext cx="1234440" cy="868680"/>
          </a:xfrm>
          <a:prstGeom prst="roundRect">
            <a:avLst/>
          </a:prstGeom>
          <a:solidFill>
            <a:srgbClr val="19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67712" y="2496312"/>
            <a:ext cx="1143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Preprocess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483864" y="2532888"/>
            <a:ext cx="292608" cy="228600"/>
          </a:xfrm>
          <a:prstGeom prst="rightArrow">
            <a:avLst/>
          </a:prstGeom>
          <a:solidFill>
            <a:srgbClr val="646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849624" y="2240280"/>
            <a:ext cx="1234440" cy="868680"/>
          </a:xfrm>
          <a:prstGeom prst="roundRect">
            <a:avLst/>
          </a:prstGeom>
          <a:solidFill>
            <a:srgbClr val="EB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95344" y="2496312"/>
            <a:ext cx="1143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Explore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111496" y="2532888"/>
            <a:ext cx="292608" cy="228600"/>
          </a:xfrm>
          <a:prstGeom prst="rightArrow">
            <a:avLst/>
          </a:prstGeom>
          <a:solidFill>
            <a:srgbClr val="646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477256" y="2240280"/>
            <a:ext cx="1234440" cy="868680"/>
          </a:xfrm>
          <a:prstGeom prst="roundRect">
            <a:avLst/>
          </a:prstGeom>
          <a:solidFill>
            <a:srgbClr val="23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22976" y="2496312"/>
            <a:ext cx="1143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Select features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739128" y="2532888"/>
            <a:ext cx="292608" cy="228600"/>
          </a:xfrm>
          <a:prstGeom prst="rightArrow">
            <a:avLst/>
          </a:prstGeom>
          <a:solidFill>
            <a:srgbClr val="646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104888" y="2240280"/>
            <a:ext cx="1234440" cy="868680"/>
          </a:xfrm>
          <a:prstGeom prst="roundRect">
            <a:avLst/>
          </a:prstGeom>
          <a:solidFill>
            <a:srgbClr val="19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50608" y="2496312"/>
            <a:ext cx="1143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Train models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366760" y="2532888"/>
            <a:ext cx="292608" cy="228600"/>
          </a:xfrm>
          <a:prstGeom prst="rightArrow">
            <a:avLst/>
          </a:prstGeom>
          <a:solidFill>
            <a:srgbClr val="646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732520" y="2240280"/>
            <a:ext cx="1234440" cy="868680"/>
          </a:xfrm>
          <a:prstGeom prst="roundRect">
            <a:avLst/>
          </a:prstGeom>
          <a:solidFill>
            <a:srgbClr val="EBA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78240" y="2496312"/>
            <a:ext cx="1143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Evaluate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994392" y="2532888"/>
            <a:ext cx="292608" cy="228600"/>
          </a:xfrm>
          <a:prstGeom prst="rightArrow">
            <a:avLst/>
          </a:prstGeom>
          <a:solidFill>
            <a:srgbClr val="646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360152" y="2240280"/>
            <a:ext cx="1234440" cy="868680"/>
          </a:xfrm>
          <a:prstGeom prst="roundRect">
            <a:avLst/>
          </a:prstGeom>
          <a:solidFill>
            <a:srgbClr val="236D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405872" y="2496312"/>
            <a:ext cx="1143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Visualize / deploy</a:t>
            </a:r>
          </a:p>
        </p:txBody>
      </p:sp>
      <p:pic>
        <p:nvPicPr>
          <p:cNvPr id="29" name="Picture 28" descr="images.jpg">
            <a:extLst>
              <a:ext uri="{FF2B5EF4-FFF2-40B4-BE49-F238E27FC236}">
                <a16:creationId xmlns:a16="http://schemas.microsoft.com/office/drawing/2014/main" id="{D3880528-1FDB-62E3-23DA-85210E0B0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9739" y="363283"/>
            <a:ext cx="1266825" cy="12668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images.jpg">
            <a:extLst>
              <a:ext uri="{FF2B5EF4-FFF2-40B4-BE49-F238E27FC236}">
                <a16:creationId xmlns:a16="http://schemas.microsoft.com/office/drawing/2014/main" id="{F0CD005F-5171-2159-4E02-1F04E4F16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9739" y="363283"/>
            <a:ext cx="1266825" cy="12668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84048"/>
            <a:ext cx="5878469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746"/>
                </a:solidFill>
              </a:defRPr>
            </a:pPr>
            <a:r>
              <a:rPr sz="4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Outputs and Visualizations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36862"/>
            <a:ext cx="272702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8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Turning model results into actionable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19" y="1630108"/>
            <a:ext cx="460440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v"/>
              <a:defRPr sz="1800">
                <a:solidFill>
                  <a:srgbClr val="2D3741"/>
                </a:solidFill>
              </a:defRPr>
            </a:pP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Correlation heatmap and feature distributions.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v"/>
              <a:defRPr sz="1800">
                <a:solidFill>
                  <a:srgbClr val="2D3741"/>
                </a:solidFill>
              </a:defRPr>
            </a:pP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Actual-versus-predicted performance plot.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v"/>
              <a:defRPr sz="1800">
                <a:solidFill>
                  <a:srgbClr val="2D3741"/>
                </a:solidFill>
              </a:defRPr>
            </a:pP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Residual analysis to identify systematic errors.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v"/>
              <a:defRPr sz="1800">
                <a:solidFill>
                  <a:srgbClr val="2D3741"/>
                </a:solidFill>
              </a:defRPr>
            </a:pP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Model comparison dashboard using R², MAE and RMSE.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v"/>
              <a:defRPr sz="1800">
                <a:solidFill>
                  <a:srgbClr val="2D3741"/>
                </a:solidFill>
              </a:defRPr>
            </a:pP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Optional </a:t>
            </a:r>
            <a:r>
              <a:rPr sz="2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Streamlit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or Flask interface for new predictions.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C6A67CC-E4B7-EA72-AD44-6254D6FA855B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9375673" y="2346766"/>
            <a:ext cx="576669" cy="5766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18A53D9-6FE2-A52F-279B-F0F9E0EA7D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8132" y="1268394"/>
            <a:ext cx="4446119" cy="273341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FFC868E-7874-C540-42C9-DC3423820B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8986" y="3934566"/>
            <a:ext cx="4604409" cy="283072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images.jpg">
            <a:extLst>
              <a:ext uri="{FF2B5EF4-FFF2-40B4-BE49-F238E27FC236}">
                <a16:creationId xmlns:a16="http://schemas.microsoft.com/office/drawing/2014/main" id="{6A1B657D-B3D3-0373-EA44-EF8C72114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9739" y="363283"/>
            <a:ext cx="1266825" cy="12668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84048"/>
            <a:ext cx="567995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22746"/>
                </a:solidFill>
              </a:defRPr>
            </a:pPr>
            <a:r>
              <a:rPr sz="4000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Technology Requirements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1368224" y="2057436"/>
            <a:ext cx="1461163" cy="270395"/>
          </a:xfrm>
          <a:custGeom>
            <a:avLst/>
            <a:gdLst/>
            <a:ahLst/>
            <a:cxnLst/>
            <a:rect l="0" t="0" r="0" b="0"/>
            <a:pathLst>
              <a:path w="1461163" h="270395">
                <a:moveTo>
                  <a:pt x="1461163" y="234819"/>
                </a:moveTo>
                <a:cubicBezTo>
                  <a:pt x="1461163" y="254469"/>
                  <a:pt x="1445237" y="270395"/>
                  <a:pt x="1425587" y="270395"/>
                </a:cubicBezTo>
                <a:lnTo>
                  <a:pt x="1390002" y="270395"/>
                </a:lnTo>
                <a:lnTo>
                  <a:pt x="35575" y="270395"/>
                </a:lnTo>
                <a:cubicBezTo>
                  <a:pt x="15925" y="270395"/>
                  <a:pt x="0" y="254469"/>
                  <a:pt x="0" y="234819"/>
                </a:cubicBezTo>
                <a:lnTo>
                  <a:pt x="0" y="35575"/>
                </a:lnTo>
                <a:cubicBezTo>
                  <a:pt x="0" y="15925"/>
                  <a:pt x="15925" y="0"/>
                  <a:pt x="35575" y="0"/>
                </a:cubicBezTo>
                <a:lnTo>
                  <a:pt x="1425587" y="0"/>
                </a:lnTo>
                <a:cubicBezTo>
                  <a:pt x="1445237" y="0"/>
                  <a:pt x="1461163" y="15925"/>
                  <a:pt x="1461163" y="35575"/>
                </a:cubicBezTo>
                <a:lnTo>
                  <a:pt x="1461163" y="234819"/>
                </a:lnTo>
              </a:path>
            </a:pathLst>
          </a:custGeom>
          <a:solidFill>
            <a:srgbClr val="494B4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2"/>
          <p:cNvSpPr/>
          <p:nvPr/>
        </p:nvSpPr>
        <p:spPr>
          <a:xfrm>
            <a:off x="1368224" y="2057436"/>
            <a:ext cx="1461164" cy="270397"/>
          </a:xfrm>
          <a:custGeom>
            <a:avLst/>
            <a:gdLst/>
            <a:ahLst/>
            <a:cxnLst/>
            <a:rect l="0" t="0" r="0" b="0"/>
            <a:pathLst>
              <a:path w="1461164" h="270397">
                <a:moveTo>
                  <a:pt x="0" y="71157"/>
                </a:moveTo>
                <a:lnTo>
                  <a:pt x="0" y="35578"/>
                </a:lnTo>
                <a:cubicBezTo>
                  <a:pt x="0" y="15929"/>
                  <a:pt x="15929" y="0"/>
                  <a:pt x="35578" y="0"/>
                </a:cubicBezTo>
                <a:lnTo>
                  <a:pt x="71157" y="0"/>
                </a:lnTo>
                <a:moveTo>
                  <a:pt x="1461164" y="71157"/>
                </a:moveTo>
                <a:lnTo>
                  <a:pt x="1461164" y="199240"/>
                </a:lnTo>
                <a:moveTo>
                  <a:pt x="0" y="199240"/>
                </a:moveTo>
                <a:lnTo>
                  <a:pt x="0" y="71157"/>
                </a:lnTo>
                <a:moveTo>
                  <a:pt x="71157" y="0"/>
                </a:moveTo>
                <a:lnTo>
                  <a:pt x="1390007" y="0"/>
                </a:lnTo>
                <a:moveTo>
                  <a:pt x="0" y="199240"/>
                </a:moveTo>
                <a:lnTo>
                  <a:pt x="0" y="234819"/>
                </a:lnTo>
                <a:cubicBezTo>
                  <a:pt x="0" y="254468"/>
                  <a:pt x="15929" y="270397"/>
                  <a:pt x="35578" y="270397"/>
                </a:cubicBezTo>
                <a:lnTo>
                  <a:pt x="71157" y="270397"/>
                </a:lnTo>
                <a:moveTo>
                  <a:pt x="1461164" y="71157"/>
                </a:moveTo>
                <a:lnTo>
                  <a:pt x="1461164" y="35578"/>
                </a:lnTo>
                <a:cubicBezTo>
                  <a:pt x="1461164" y="15929"/>
                  <a:pt x="1445235" y="0"/>
                  <a:pt x="1425585" y="0"/>
                </a:cubicBezTo>
                <a:lnTo>
                  <a:pt x="1390007" y="0"/>
                </a:lnTo>
                <a:moveTo>
                  <a:pt x="1390007" y="270397"/>
                </a:moveTo>
                <a:lnTo>
                  <a:pt x="71157" y="270397"/>
                </a:lnTo>
                <a:moveTo>
                  <a:pt x="1461164" y="199240"/>
                </a:moveTo>
                <a:lnTo>
                  <a:pt x="1461164" y="234819"/>
                </a:lnTo>
                <a:cubicBezTo>
                  <a:pt x="1461164" y="254468"/>
                  <a:pt x="1445235" y="270397"/>
                  <a:pt x="1425585" y="270397"/>
                </a:cubicBezTo>
                <a:lnTo>
                  <a:pt x="1390007" y="270397"/>
                </a:lnTo>
              </a:path>
            </a:pathLst>
          </a:custGeom>
          <a:noFill/>
          <a:ln w="8893">
            <a:solidFill>
              <a:srgbClr val="E7E8E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4"/>
          <p:cNvSpPr/>
          <p:nvPr/>
        </p:nvSpPr>
        <p:spPr>
          <a:xfrm>
            <a:off x="1368224" y="2398991"/>
            <a:ext cx="1461164" cy="355786"/>
          </a:xfrm>
          <a:custGeom>
            <a:avLst/>
            <a:gdLst/>
            <a:ahLst/>
            <a:cxnLst/>
            <a:rect l="0" t="0" r="0" b="0"/>
            <a:pathLst>
              <a:path w="1461164" h="355786">
                <a:moveTo>
                  <a:pt x="0" y="71157"/>
                </a:moveTo>
                <a:lnTo>
                  <a:pt x="0" y="35578"/>
                </a:lnTo>
                <a:cubicBezTo>
                  <a:pt x="0" y="15929"/>
                  <a:pt x="15929" y="0"/>
                  <a:pt x="35578" y="0"/>
                </a:cubicBezTo>
                <a:lnTo>
                  <a:pt x="71157" y="0"/>
                </a:lnTo>
                <a:moveTo>
                  <a:pt x="1461164" y="71157"/>
                </a:moveTo>
                <a:lnTo>
                  <a:pt x="1461164" y="284629"/>
                </a:lnTo>
                <a:moveTo>
                  <a:pt x="0" y="284629"/>
                </a:moveTo>
                <a:lnTo>
                  <a:pt x="0" y="71157"/>
                </a:lnTo>
                <a:moveTo>
                  <a:pt x="71157" y="0"/>
                </a:moveTo>
                <a:lnTo>
                  <a:pt x="1390007" y="0"/>
                </a:lnTo>
                <a:moveTo>
                  <a:pt x="0" y="284629"/>
                </a:moveTo>
                <a:lnTo>
                  <a:pt x="0" y="320208"/>
                </a:lnTo>
                <a:cubicBezTo>
                  <a:pt x="0" y="339857"/>
                  <a:pt x="15929" y="355786"/>
                  <a:pt x="35578" y="355786"/>
                </a:cubicBezTo>
                <a:lnTo>
                  <a:pt x="71157" y="355786"/>
                </a:lnTo>
                <a:moveTo>
                  <a:pt x="1461164" y="71157"/>
                </a:moveTo>
                <a:lnTo>
                  <a:pt x="1461164" y="35578"/>
                </a:lnTo>
                <a:cubicBezTo>
                  <a:pt x="1461164" y="15929"/>
                  <a:pt x="1445235" y="0"/>
                  <a:pt x="1425585" y="0"/>
                </a:cubicBezTo>
                <a:lnTo>
                  <a:pt x="1390007" y="0"/>
                </a:lnTo>
                <a:moveTo>
                  <a:pt x="1390007" y="355786"/>
                </a:moveTo>
                <a:lnTo>
                  <a:pt x="71157" y="355786"/>
                </a:lnTo>
                <a:moveTo>
                  <a:pt x="1461164" y="284629"/>
                </a:moveTo>
                <a:lnTo>
                  <a:pt x="1461164" y="320208"/>
                </a:lnTo>
                <a:cubicBezTo>
                  <a:pt x="1461164" y="339857"/>
                  <a:pt x="1445235" y="355786"/>
                  <a:pt x="1425585" y="355786"/>
                </a:cubicBezTo>
                <a:lnTo>
                  <a:pt x="1390007" y="355786"/>
                </a:lnTo>
              </a:path>
            </a:pathLst>
          </a:custGeom>
          <a:noFill/>
          <a:ln w="8893">
            <a:solidFill>
              <a:srgbClr val="E7E8E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6"/>
          <p:cNvSpPr/>
          <p:nvPr/>
        </p:nvSpPr>
        <p:spPr>
          <a:xfrm>
            <a:off x="1368224" y="2825936"/>
            <a:ext cx="1461164" cy="462522"/>
          </a:xfrm>
          <a:custGeom>
            <a:avLst/>
            <a:gdLst/>
            <a:ahLst/>
            <a:cxnLst/>
            <a:rect l="0" t="0" r="0" b="0"/>
            <a:pathLst>
              <a:path w="1461164" h="462522">
                <a:moveTo>
                  <a:pt x="0" y="71157"/>
                </a:moveTo>
                <a:lnTo>
                  <a:pt x="0" y="35578"/>
                </a:lnTo>
                <a:cubicBezTo>
                  <a:pt x="0" y="15929"/>
                  <a:pt x="15929" y="0"/>
                  <a:pt x="35578" y="0"/>
                </a:cubicBezTo>
                <a:lnTo>
                  <a:pt x="71157" y="0"/>
                </a:lnTo>
                <a:moveTo>
                  <a:pt x="1461164" y="71157"/>
                </a:moveTo>
                <a:lnTo>
                  <a:pt x="1461164" y="391365"/>
                </a:lnTo>
                <a:moveTo>
                  <a:pt x="0" y="391365"/>
                </a:moveTo>
                <a:lnTo>
                  <a:pt x="0" y="71157"/>
                </a:lnTo>
                <a:moveTo>
                  <a:pt x="71157" y="0"/>
                </a:moveTo>
                <a:lnTo>
                  <a:pt x="1390007" y="0"/>
                </a:lnTo>
                <a:moveTo>
                  <a:pt x="0" y="391365"/>
                </a:moveTo>
                <a:lnTo>
                  <a:pt x="0" y="426944"/>
                </a:lnTo>
                <a:cubicBezTo>
                  <a:pt x="0" y="446593"/>
                  <a:pt x="15929" y="462522"/>
                  <a:pt x="35578" y="462522"/>
                </a:cubicBezTo>
                <a:lnTo>
                  <a:pt x="71157" y="462522"/>
                </a:lnTo>
                <a:moveTo>
                  <a:pt x="1461164" y="71157"/>
                </a:moveTo>
                <a:lnTo>
                  <a:pt x="1461164" y="35578"/>
                </a:lnTo>
                <a:cubicBezTo>
                  <a:pt x="1461164" y="15929"/>
                  <a:pt x="1445235" y="0"/>
                  <a:pt x="1425585" y="0"/>
                </a:cubicBezTo>
                <a:lnTo>
                  <a:pt x="1390007" y="0"/>
                </a:lnTo>
                <a:moveTo>
                  <a:pt x="1390007" y="462522"/>
                </a:moveTo>
                <a:lnTo>
                  <a:pt x="71157" y="462522"/>
                </a:lnTo>
                <a:moveTo>
                  <a:pt x="1461164" y="391365"/>
                </a:moveTo>
                <a:lnTo>
                  <a:pt x="1461164" y="426944"/>
                </a:lnTo>
                <a:cubicBezTo>
                  <a:pt x="1461164" y="446593"/>
                  <a:pt x="1445235" y="462522"/>
                  <a:pt x="1425585" y="462522"/>
                </a:cubicBezTo>
                <a:lnTo>
                  <a:pt x="1390007" y="462522"/>
                </a:lnTo>
              </a:path>
            </a:pathLst>
          </a:custGeom>
          <a:noFill/>
          <a:ln w="8893">
            <a:solidFill>
              <a:srgbClr val="E7E8E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8"/>
          <p:cNvSpPr/>
          <p:nvPr/>
        </p:nvSpPr>
        <p:spPr>
          <a:xfrm>
            <a:off x="1368224" y="3359617"/>
            <a:ext cx="1461164" cy="462522"/>
          </a:xfrm>
          <a:custGeom>
            <a:avLst/>
            <a:gdLst/>
            <a:ahLst/>
            <a:cxnLst/>
            <a:rect l="0" t="0" r="0" b="0"/>
            <a:pathLst>
              <a:path w="1461164" h="462522">
                <a:moveTo>
                  <a:pt x="0" y="71157"/>
                </a:moveTo>
                <a:lnTo>
                  <a:pt x="0" y="35578"/>
                </a:lnTo>
                <a:cubicBezTo>
                  <a:pt x="0" y="15929"/>
                  <a:pt x="15929" y="0"/>
                  <a:pt x="35578" y="0"/>
                </a:cubicBezTo>
                <a:lnTo>
                  <a:pt x="71157" y="0"/>
                </a:lnTo>
                <a:moveTo>
                  <a:pt x="1461164" y="71157"/>
                </a:moveTo>
                <a:lnTo>
                  <a:pt x="1461164" y="391365"/>
                </a:lnTo>
                <a:moveTo>
                  <a:pt x="0" y="391365"/>
                </a:moveTo>
                <a:lnTo>
                  <a:pt x="0" y="71157"/>
                </a:lnTo>
                <a:moveTo>
                  <a:pt x="71157" y="0"/>
                </a:moveTo>
                <a:lnTo>
                  <a:pt x="1390007" y="0"/>
                </a:lnTo>
                <a:moveTo>
                  <a:pt x="0" y="391365"/>
                </a:moveTo>
                <a:lnTo>
                  <a:pt x="0" y="426944"/>
                </a:lnTo>
                <a:cubicBezTo>
                  <a:pt x="0" y="446593"/>
                  <a:pt x="15929" y="462522"/>
                  <a:pt x="35578" y="462522"/>
                </a:cubicBezTo>
                <a:lnTo>
                  <a:pt x="71157" y="462522"/>
                </a:lnTo>
                <a:moveTo>
                  <a:pt x="1461164" y="71157"/>
                </a:moveTo>
                <a:lnTo>
                  <a:pt x="1461164" y="35578"/>
                </a:lnTo>
                <a:cubicBezTo>
                  <a:pt x="1461164" y="15929"/>
                  <a:pt x="1445235" y="0"/>
                  <a:pt x="1425585" y="0"/>
                </a:cubicBezTo>
                <a:lnTo>
                  <a:pt x="1390007" y="0"/>
                </a:lnTo>
                <a:moveTo>
                  <a:pt x="1390007" y="462522"/>
                </a:moveTo>
                <a:lnTo>
                  <a:pt x="71157" y="462522"/>
                </a:lnTo>
                <a:moveTo>
                  <a:pt x="1461164" y="391365"/>
                </a:moveTo>
                <a:lnTo>
                  <a:pt x="1461164" y="426944"/>
                </a:lnTo>
                <a:cubicBezTo>
                  <a:pt x="1461164" y="446593"/>
                  <a:pt x="1445235" y="462522"/>
                  <a:pt x="1425585" y="462522"/>
                </a:cubicBezTo>
                <a:lnTo>
                  <a:pt x="1390007" y="462522"/>
                </a:lnTo>
              </a:path>
            </a:pathLst>
          </a:custGeom>
          <a:noFill/>
          <a:ln w="8893">
            <a:solidFill>
              <a:srgbClr val="E7E8E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0"/>
          <p:cNvSpPr/>
          <p:nvPr/>
        </p:nvSpPr>
        <p:spPr>
          <a:xfrm>
            <a:off x="1368224" y="3893296"/>
            <a:ext cx="1461164" cy="569259"/>
          </a:xfrm>
          <a:custGeom>
            <a:avLst/>
            <a:gdLst/>
            <a:ahLst/>
            <a:cxnLst/>
            <a:rect l="0" t="0" r="0" b="0"/>
            <a:pathLst>
              <a:path w="1461164" h="569259">
                <a:moveTo>
                  <a:pt x="0" y="71157"/>
                </a:moveTo>
                <a:lnTo>
                  <a:pt x="0" y="35578"/>
                </a:lnTo>
                <a:cubicBezTo>
                  <a:pt x="0" y="15929"/>
                  <a:pt x="15929" y="0"/>
                  <a:pt x="35578" y="0"/>
                </a:cubicBezTo>
                <a:lnTo>
                  <a:pt x="71157" y="0"/>
                </a:lnTo>
                <a:moveTo>
                  <a:pt x="1461164" y="71157"/>
                </a:moveTo>
                <a:lnTo>
                  <a:pt x="1461164" y="498101"/>
                </a:lnTo>
                <a:moveTo>
                  <a:pt x="0" y="498101"/>
                </a:moveTo>
                <a:lnTo>
                  <a:pt x="0" y="71157"/>
                </a:lnTo>
                <a:moveTo>
                  <a:pt x="71157" y="0"/>
                </a:moveTo>
                <a:lnTo>
                  <a:pt x="1390007" y="0"/>
                </a:lnTo>
                <a:moveTo>
                  <a:pt x="0" y="498101"/>
                </a:moveTo>
                <a:lnTo>
                  <a:pt x="0" y="533680"/>
                </a:lnTo>
                <a:cubicBezTo>
                  <a:pt x="0" y="553330"/>
                  <a:pt x="15929" y="569259"/>
                  <a:pt x="35578" y="569259"/>
                </a:cubicBezTo>
                <a:lnTo>
                  <a:pt x="71157" y="569259"/>
                </a:lnTo>
                <a:moveTo>
                  <a:pt x="1461164" y="71157"/>
                </a:moveTo>
                <a:lnTo>
                  <a:pt x="1461164" y="35578"/>
                </a:lnTo>
                <a:cubicBezTo>
                  <a:pt x="1461164" y="15929"/>
                  <a:pt x="1445235" y="0"/>
                  <a:pt x="1425585" y="0"/>
                </a:cubicBezTo>
                <a:lnTo>
                  <a:pt x="1390007" y="0"/>
                </a:lnTo>
                <a:moveTo>
                  <a:pt x="1390007" y="569259"/>
                </a:moveTo>
                <a:lnTo>
                  <a:pt x="71157" y="569259"/>
                </a:lnTo>
                <a:moveTo>
                  <a:pt x="1461164" y="498101"/>
                </a:moveTo>
                <a:lnTo>
                  <a:pt x="1461164" y="533680"/>
                </a:lnTo>
                <a:cubicBezTo>
                  <a:pt x="1461164" y="553330"/>
                  <a:pt x="1445235" y="569259"/>
                  <a:pt x="1425585" y="569259"/>
                </a:cubicBezTo>
                <a:lnTo>
                  <a:pt x="1390007" y="569259"/>
                </a:lnTo>
              </a:path>
            </a:pathLst>
          </a:custGeom>
          <a:noFill/>
          <a:ln w="8893">
            <a:solidFill>
              <a:srgbClr val="E7E8E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2"/>
          <p:cNvSpPr/>
          <p:nvPr/>
        </p:nvSpPr>
        <p:spPr>
          <a:xfrm>
            <a:off x="1368224" y="4533712"/>
            <a:ext cx="1461164" cy="675994"/>
          </a:xfrm>
          <a:custGeom>
            <a:avLst/>
            <a:gdLst/>
            <a:ahLst/>
            <a:cxnLst/>
            <a:rect l="0" t="0" r="0" b="0"/>
            <a:pathLst>
              <a:path w="1461164" h="675994">
                <a:moveTo>
                  <a:pt x="0" y="71157"/>
                </a:moveTo>
                <a:lnTo>
                  <a:pt x="0" y="35578"/>
                </a:lnTo>
                <a:cubicBezTo>
                  <a:pt x="0" y="15929"/>
                  <a:pt x="15929" y="0"/>
                  <a:pt x="35578" y="0"/>
                </a:cubicBezTo>
                <a:lnTo>
                  <a:pt x="71157" y="0"/>
                </a:lnTo>
                <a:moveTo>
                  <a:pt x="1461164" y="71157"/>
                </a:moveTo>
                <a:lnTo>
                  <a:pt x="1461164" y="604837"/>
                </a:lnTo>
                <a:moveTo>
                  <a:pt x="0" y="604837"/>
                </a:moveTo>
                <a:lnTo>
                  <a:pt x="0" y="71157"/>
                </a:lnTo>
                <a:moveTo>
                  <a:pt x="71157" y="0"/>
                </a:moveTo>
                <a:lnTo>
                  <a:pt x="1390007" y="0"/>
                </a:lnTo>
                <a:moveTo>
                  <a:pt x="0" y="604837"/>
                </a:moveTo>
                <a:lnTo>
                  <a:pt x="0" y="640416"/>
                </a:lnTo>
                <a:cubicBezTo>
                  <a:pt x="0" y="660065"/>
                  <a:pt x="15929" y="675994"/>
                  <a:pt x="35578" y="675994"/>
                </a:cubicBezTo>
                <a:lnTo>
                  <a:pt x="71157" y="675994"/>
                </a:lnTo>
                <a:moveTo>
                  <a:pt x="1461164" y="71157"/>
                </a:moveTo>
                <a:lnTo>
                  <a:pt x="1461164" y="35578"/>
                </a:lnTo>
                <a:cubicBezTo>
                  <a:pt x="1461164" y="15929"/>
                  <a:pt x="1445235" y="0"/>
                  <a:pt x="1425585" y="0"/>
                </a:cubicBezTo>
                <a:lnTo>
                  <a:pt x="1390007" y="0"/>
                </a:lnTo>
                <a:moveTo>
                  <a:pt x="1390007" y="675994"/>
                </a:moveTo>
                <a:lnTo>
                  <a:pt x="71157" y="675994"/>
                </a:lnTo>
                <a:moveTo>
                  <a:pt x="1461164" y="604837"/>
                </a:moveTo>
                <a:lnTo>
                  <a:pt x="1461164" y="640416"/>
                </a:lnTo>
                <a:cubicBezTo>
                  <a:pt x="1461164" y="660065"/>
                  <a:pt x="1445235" y="675994"/>
                  <a:pt x="1425585" y="675994"/>
                </a:cubicBezTo>
                <a:lnTo>
                  <a:pt x="1390007" y="675994"/>
                </a:lnTo>
              </a:path>
            </a:pathLst>
          </a:custGeom>
          <a:noFill/>
          <a:ln w="8893">
            <a:solidFill>
              <a:srgbClr val="E7E8E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14"/>
          <p:cNvSpPr/>
          <p:nvPr/>
        </p:nvSpPr>
        <p:spPr>
          <a:xfrm>
            <a:off x="1368224" y="5280866"/>
            <a:ext cx="1461164" cy="270398"/>
          </a:xfrm>
          <a:custGeom>
            <a:avLst/>
            <a:gdLst/>
            <a:ahLst/>
            <a:cxnLst/>
            <a:rect l="0" t="0" r="0" b="0"/>
            <a:pathLst>
              <a:path w="1461164" h="270398">
                <a:moveTo>
                  <a:pt x="0" y="71157"/>
                </a:moveTo>
                <a:lnTo>
                  <a:pt x="0" y="35578"/>
                </a:lnTo>
                <a:cubicBezTo>
                  <a:pt x="0" y="15929"/>
                  <a:pt x="15929" y="0"/>
                  <a:pt x="35578" y="0"/>
                </a:cubicBezTo>
                <a:lnTo>
                  <a:pt x="71157" y="0"/>
                </a:lnTo>
                <a:moveTo>
                  <a:pt x="1461164" y="71157"/>
                </a:moveTo>
                <a:lnTo>
                  <a:pt x="1461164" y="199240"/>
                </a:lnTo>
                <a:moveTo>
                  <a:pt x="0" y="199240"/>
                </a:moveTo>
                <a:lnTo>
                  <a:pt x="0" y="71157"/>
                </a:lnTo>
                <a:moveTo>
                  <a:pt x="71157" y="0"/>
                </a:moveTo>
                <a:lnTo>
                  <a:pt x="1390007" y="0"/>
                </a:lnTo>
                <a:moveTo>
                  <a:pt x="0" y="199240"/>
                </a:moveTo>
                <a:lnTo>
                  <a:pt x="0" y="234819"/>
                </a:lnTo>
                <a:cubicBezTo>
                  <a:pt x="0" y="254469"/>
                  <a:pt x="15929" y="270398"/>
                  <a:pt x="35578" y="270398"/>
                </a:cubicBezTo>
                <a:lnTo>
                  <a:pt x="71157" y="270398"/>
                </a:lnTo>
                <a:moveTo>
                  <a:pt x="1461164" y="71157"/>
                </a:moveTo>
                <a:lnTo>
                  <a:pt x="1461164" y="35578"/>
                </a:lnTo>
                <a:cubicBezTo>
                  <a:pt x="1461164" y="15929"/>
                  <a:pt x="1445235" y="0"/>
                  <a:pt x="1425585" y="0"/>
                </a:cubicBezTo>
                <a:lnTo>
                  <a:pt x="1390007" y="0"/>
                </a:lnTo>
                <a:moveTo>
                  <a:pt x="1390007" y="270398"/>
                </a:moveTo>
                <a:lnTo>
                  <a:pt x="71157" y="270398"/>
                </a:lnTo>
                <a:moveTo>
                  <a:pt x="1461164" y="199240"/>
                </a:moveTo>
                <a:lnTo>
                  <a:pt x="1461164" y="234819"/>
                </a:lnTo>
                <a:cubicBezTo>
                  <a:pt x="1461164" y="254469"/>
                  <a:pt x="1445235" y="270398"/>
                  <a:pt x="1425585" y="270398"/>
                </a:cubicBezTo>
                <a:lnTo>
                  <a:pt x="1390007" y="270398"/>
                </a:lnTo>
              </a:path>
            </a:pathLst>
          </a:custGeom>
          <a:noFill/>
          <a:ln w="8893">
            <a:solidFill>
              <a:srgbClr val="E7E8E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15"/>
          <p:cNvSpPr/>
          <p:nvPr/>
        </p:nvSpPr>
        <p:spPr>
          <a:xfrm>
            <a:off x="2900545" y="2057436"/>
            <a:ext cx="1014431" cy="270395"/>
          </a:xfrm>
          <a:custGeom>
            <a:avLst/>
            <a:gdLst/>
            <a:ahLst/>
            <a:cxnLst/>
            <a:rect l="0" t="0" r="0" b="0"/>
            <a:pathLst>
              <a:path w="1014431" h="270395">
                <a:moveTo>
                  <a:pt x="1014431" y="199243"/>
                </a:moveTo>
                <a:lnTo>
                  <a:pt x="1014431" y="234819"/>
                </a:lnTo>
                <a:cubicBezTo>
                  <a:pt x="1014431" y="254469"/>
                  <a:pt x="998496" y="270395"/>
                  <a:pt x="978855" y="270395"/>
                </a:cubicBezTo>
                <a:lnTo>
                  <a:pt x="35575" y="270395"/>
                </a:lnTo>
                <a:cubicBezTo>
                  <a:pt x="15925" y="270395"/>
                  <a:pt x="0" y="254469"/>
                  <a:pt x="0" y="234819"/>
                </a:cubicBezTo>
                <a:lnTo>
                  <a:pt x="0" y="35575"/>
                </a:lnTo>
                <a:cubicBezTo>
                  <a:pt x="0" y="15925"/>
                  <a:pt x="15925" y="0"/>
                  <a:pt x="35575" y="0"/>
                </a:cubicBezTo>
                <a:lnTo>
                  <a:pt x="978855" y="0"/>
                </a:lnTo>
                <a:cubicBezTo>
                  <a:pt x="998496" y="0"/>
                  <a:pt x="1014431" y="15925"/>
                  <a:pt x="1014431" y="35575"/>
                </a:cubicBezTo>
                <a:lnTo>
                  <a:pt x="1014431" y="199243"/>
                </a:lnTo>
              </a:path>
            </a:pathLst>
          </a:custGeom>
          <a:solidFill>
            <a:srgbClr val="494B4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16"/>
          <p:cNvSpPr/>
          <p:nvPr/>
        </p:nvSpPr>
        <p:spPr>
          <a:xfrm>
            <a:off x="2900545" y="2057436"/>
            <a:ext cx="1014429" cy="270397"/>
          </a:xfrm>
          <a:custGeom>
            <a:avLst/>
            <a:gdLst/>
            <a:ahLst/>
            <a:cxnLst/>
            <a:rect l="0" t="0" r="0" b="0"/>
            <a:pathLst>
              <a:path w="1014429" h="270397">
                <a:moveTo>
                  <a:pt x="0" y="71157"/>
                </a:moveTo>
                <a:lnTo>
                  <a:pt x="0" y="35578"/>
                </a:lnTo>
                <a:cubicBezTo>
                  <a:pt x="0" y="15929"/>
                  <a:pt x="15929" y="0"/>
                  <a:pt x="35578" y="0"/>
                </a:cubicBezTo>
                <a:lnTo>
                  <a:pt x="71157" y="0"/>
                </a:lnTo>
                <a:moveTo>
                  <a:pt x="1014429" y="71157"/>
                </a:moveTo>
                <a:lnTo>
                  <a:pt x="1014429" y="199240"/>
                </a:lnTo>
                <a:moveTo>
                  <a:pt x="0" y="199240"/>
                </a:moveTo>
                <a:lnTo>
                  <a:pt x="0" y="71157"/>
                </a:lnTo>
                <a:moveTo>
                  <a:pt x="71157" y="0"/>
                </a:moveTo>
                <a:lnTo>
                  <a:pt x="943272" y="0"/>
                </a:lnTo>
                <a:moveTo>
                  <a:pt x="0" y="199240"/>
                </a:moveTo>
                <a:lnTo>
                  <a:pt x="0" y="234819"/>
                </a:lnTo>
                <a:cubicBezTo>
                  <a:pt x="0" y="254468"/>
                  <a:pt x="15929" y="270397"/>
                  <a:pt x="35578" y="270397"/>
                </a:cubicBezTo>
                <a:lnTo>
                  <a:pt x="71157" y="270397"/>
                </a:lnTo>
                <a:moveTo>
                  <a:pt x="1014429" y="71157"/>
                </a:moveTo>
                <a:lnTo>
                  <a:pt x="1014429" y="35578"/>
                </a:lnTo>
                <a:cubicBezTo>
                  <a:pt x="1014429" y="15929"/>
                  <a:pt x="998500" y="0"/>
                  <a:pt x="978851" y="0"/>
                </a:cubicBezTo>
                <a:lnTo>
                  <a:pt x="943272" y="0"/>
                </a:lnTo>
                <a:moveTo>
                  <a:pt x="943272" y="270397"/>
                </a:moveTo>
                <a:lnTo>
                  <a:pt x="71157" y="270397"/>
                </a:lnTo>
                <a:moveTo>
                  <a:pt x="1014429" y="199240"/>
                </a:moveTo>
                <a:lnTo>
                  <a:pt x="1014429" y="234819"/>
                </a:lnTo>
                <a:cubicBezTo>
                  <a:pt x="1014429" y="254468"/>
                  <a:pt x="998500" y="270397"/>
                  <a:pt x="978851" y="270397"/>
                </a:cubicBezTo>
                <a:lnTo>
                  <a:pt x="943272" y="270397"/>
                </a:lnTo>
              </a:path>
            </a:pathLst>
          </a:custGeom>
          <a:noFill/>
          <a:ln w="8893">
            <a:solidFill>
              <a:srgbClr val="E7E8E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2900546" y="4533712"/>
            <a:ext cx="1014429" cy="675994"/>
          </a:xfrm>
          <a:custGeom>
            <a:avLst/>
            <a:gdLst/>
            <a:ahLst/>
            <a:cxnLst/>
            <a:rect l="0" t="0" r="0" b="0"/>
            <a:pathLst>
              <a:path w="1014429" h="675994">
                <a:moveTo>
                  <a:pt x="0" y="71157"/>
                </a:moveTo>
                <a:lnTo>
                  <a:pt x="0" y="35578"/>
                </a:lnTo>
                <a:cubicBezTo>
                  <a:pt x="0" y="15929"/>
                  <a:pt x="15929" y="0"/>
                  <a:pt x="35578" y="0"/>
                </a:cubicBezTo>
                <a:lnTo>
                  <a:pt x="71157" y="0"/>
                </a:lnTo>
                <a:moveTo>
                  <a:pt x="1014429" y="71157"/>
                </a:moveTo>
                <a:lnTo>
                  <a:pt x="1014429" y="604837"/>
                </a:lnTo>
                <a:moveTo>
                  <a:pt x="0" y="604837"/>
                </a:moveTo>
                <a:lnTo>
                  <a:pt x="0" y="71157"/>
                </a:lnTo>
                <a:moveTo>
                  <a:pt x="71157" y="0"/>
                </a:moveTo>
                <a:lnTo>
                  <a:pt x="943272" y="0"/>
                </a:lnTo>
                <a:moveTo>
                  <a:pt x="0" y="604837"/>
                </a:moveTo>
                <a:lnTo>
                  <a:pt x="0" y="640416"/>
                </a:lnTo>
                <a:cubicBezTo>
                  <a:pt x="0" y="660065"/>
                  <a:pt x="15929" y="675994"/>
                  <a:pt x="35578" y="675994"/>
                </a:cubicBezTo>
                <a:lnTo>
                  <a:pt x="71157" y="675994"/>
                </a:lnTo>
                <a:moveTo>
                  <a:pt x="1014429" y="71157"/>
                </a:moveTo>
                <a:lnTo>
                  <a:pt x="1014429" y="35578"/>
                </a:lnTo>
                <a:cubicBezTo>
                  <a:pt x="1014429" y="15929"/>
                  <a:pt x="998500" y="0"/>
                  <a:pt x="978850" y="0"/>
                </a:cubicBezTo>
                <a:lnTo>
                  <a:pt x="943272" y="0"/>
                </a:lnTo>
                <a:moveTo>
                  <a:pt x="943272" y="675994"/>
                </a:moveTo>
                <a:lnTo>
                  <a:pt x="71157" y="675994"/>
                </a:lnTo>
                <a:moveTo>
                  <a:pt x="1014429" y="604837"/>
                </a:moveTo>
                <a:lnTo>
                  <a:pt x="1014429" y="640416"/>
                </a:lnTo>
                <a:cubicBezTo>
                  <a:pt x="1014429" y="660065"/>
                  <a:pt x="998500" y="675994"/>
                  <a:pt x="978850" y="675994"/>
                </a:cubicBezTo>
                <a:lnTo>
                  <a:pt x="943272" y="675994"/>
                </a:lnTo>
              </a:path>
            </a:pathLst>
          </a:custGeom>
          <a:noFill/>
          <a:ln w="8893">
            <a:solidFill>
              <a:srgbClr val="E7E8E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2900545" y="5280866"/>
            <a:ext cx="1014429" cy="270398"/>
          </a:xfrm>
          <a:custGeom>
            <a:avLst/>
            <a:gdLst/>
            <a:ahLst/>
            <a:cxnLst/>
            <a:rect l="0" t="0" r="0" b="0"/>
            <a:pathLst>
              <a:path w="1014429" h="270398">
                <a:moveTo>
                  <a:pt x="0" y="71157"/>
                </a:moveTo>
                <a:lnTo>
                  <a:pt x="0" y="35578"/>
                </a:lnTo>
                <a:cubicBezTo>
                  <a:pt x="0" y="15929"/>
                  <a:pt x="15929" y="0"/>
                  <a:pt x="35578" y="0"/>
                </a:cubicBezTo>
                <a:lnTo>
                  <a:pt x="71157" y="0"/>
                </a:lnTo>
                <a:moveTo>
                  <a:pt x="1014429" y="71157"/>
                </a:moveTo>
                <a:lnTo>
                  <a:pt x="1014429" y="199240"/>
                </a:lnTo>
                <a:moveTo>
                  <a:pt x="0" y="199240"/>
                </a:moveTo>
                <a:lnTo>
                  <a:pt x="0" y="71157"/>
                </a:lnTo>
                <a:moveTo>
                  <a:pt x="71157" y="0"/>
                </a:moveTo>
                <a:lnTo>
                  <a:pt x="943272" y="0"/>
                </a:lnTo>
                <a:moveTo>
                  <a:pt x="0" y="199240"/>
                </a:moveTo>
                <a:lnTo>
                  <a:pt x="0" y="234819"/>
                </a:lnTo>
                <a:cubicBezTo>
                  <a:pt x="0" y="254469"/>
                  <a:pt x="15929" y="270398"/>
                  <a:pt x="35578" y="270398"/>
                </a:cubicBezTo>
                <a:lnTo>
                  <a:pt x="71157" y="270398"/>
                </a:lnTo>
                <a:moveTo>
                  <a:pt x="1014429" y="71157"/>
                </a:moveTo>
                <a:lnTo>
                  <a:pt x="1014429" y="35578"/>
                </a:lnTo>
                <a:cubicBezTo>
                  <a:pt x="1014429" y="15929"/>
                  <a:pt x="998500" y="0"/>
                  <a:pt x="978851" y="0"/>
                </a:cubicBezTo>
                <a:lnTo>
                  <a:pt x="943272" y="0"/>
                </a:lnTo>
                <a:moveTo>
                  <a:pt x="943272" y="270398"/>
                </a:moveTo>
                <a:lnTo>
                  <a:pt x="71157" y="270398"/>
                </a:lnTo>
                <a:moveTo>
                  <a:pt x="1014429" y="199240"/>
                </a:moveTo>
                <a:lnTo>
                  <a:pt x="1014429" y="234819"/>
                </a:lnTo>
                <a:cubicBezTo>
                  <a:pt x="1014429" y="254469"/>
                  <a:pt x="998500" y="270398"/>
                  <a:pt x="978851" y="270398"/>
                </a:cubicBezTo>
                <a:lnTo>
                  <a:pt x="943272" y="270398"/>
                </a:lnTo>
              </a:path>
            </a:pathLst>
          </a:custGeom>
          <a:noFill/>
          <a:ln w="8893">
            <a:solidFill>
              <a:srgbClr val="E7E8E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33" name="Group 32"/>
          <p:cNvGrpSpPr/>
          <p:nvPr/>
        </p:nvGrpSpPr>
        <p:grpSpPr>
          <a:xfrm>
            <a:off x="3001872" y="2897149"/>
            <a:ext cx="811777" cy="320096"/>
            <a:chOff x="4932272" y="2053869"/>
            <a:chExt cx="811777" cy="320096"/>
          </a:xfrm>
        </p:grpSpPr>
        <p:sp>
          <p:nvSpPr>
            <p:cNvPr id="30" name="TextBox 29"/>
            <p:cNvSpPr txBox="1"/>
            <p:nvPr/>
          </p:nvSpPr>
          <p:spPr>
            <a:xfrm>
              <a:off x="4932272" y="2053869"/>
              <a:ext cx="811777" cy="1066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600" b="0">
                  <a:solidFill>
                    <a:srgbClr val="494B45"/>
                  </a:solidFill>
                  <a:latin typeface="Roboto"/>
                </a:rPr>
                <a:t>Python 3.x in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932272" y="2160549"/>
              <a:ext cx="811777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600" b="0">
                  <a:solidFill>
                    <a:srgbClr val="494B45"/>
                  </a:solidFill>
                  <a:latin typeface="Roboto"/>
                </a:rPr>
                <a:t>Jupyter Notebook or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932272" y="2267229"/>
              <a:ext cx="811777" cy="106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600" b="0">
                  <a:solidFill>
                    <a:srgbClr val="494B45"/>
                  </a:solidFill>
                  <a:latin typeface="Roboto"/>
                </a:rPr>
                <a:t>Google Colab</a:t>
              </a: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1458432" y="3526831"/>
            <a:ext cx="1031205" cy="1280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00" b="1">
                <a:solidFill>
                  <a:srgbClr val="494B45"/>
                </a:solidFill>
                <a:latin typeface="Roboto Slab"/>
              </a:rPr>
              <a:t>Data &amp; Visualization</a:t>
            </a:r>
          </a:p>
        </p:txBody>
      </p:sp>
      <p:grpSp>
        <p:nvGrpSpPr>
          <p:cNvPr id="38" name="Group 37"/>
          <p:cNvGrpSpPr/>
          <p:nvPr/>
        </p:nvGrpSpPr>
        <p:grpSpPr>
          <a:xfrm>
            <a:off x="3092064" y="3430829"/>
            <a:ext cx="631383" cy="320096"/>
            <a:chOff x="5022464" y="2587549"/>
            <a:chExt cx="631383" cy="320096"/>
          </a:xfrm>
        </p:grpSpPr>
        <p:sp>
          <p:nvSpPr>
            <p:cNvPr id="35" name="TextBox 34"/>
            <p:cNvSpPr txBox="1"/>
            <p:nvPr/>
          </p:nvSpPr>
          <p:spPr>
            <a:xfrm>
              <a:off x="5022464" y="2587549"/>
              <a:ext cx="631383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600" b="0">
                  <a:solidFill>
                    <a:srgbClr val="494B45"/>
                  </a:solidFill>
                  <a:latin typeface="Roboto"/>
                </a:rPr>
                <a:t>pandas, numpy,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5022464" y="2694229"/>
              <a:ext cx="631383" cy="1066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600" b="0">
                  <a:solidFill>
                    <a:srgbClr val="494B45"/>
                  </a:solidFill>
                  <a:latin typeface="Roboto"/>
                </a:rPr>
                <a:t>matplotlib, and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5022464" y="2800909"/>
              <a:ext cx="631383" cy="106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600" b="0">
                  <a:solidFill>
                    <a:srgbClr val="494B45"/>
                  </a:solidFill>
                  <a:latin typeface="Roboto"/>
                </a:rPr>
                <a:t>seaborn</a:t>
              </a: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1458432" y="2993151"/>
            <a:ext cx="1280750" cy="1280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00" b="1">
                <a:solidFill>
                  <a:srgbClr val="494B45"/>
                </a:solidFill>
                <a:latin typeface="Roboto Slab"/>
              </a:rPr>
              <a:t>Language &amp; Environment</a:t>
            </a:r>
          </a:p>
        </p:txBody>
      </p:sp>
      <p:grpSp>
        <p:nvGrpSpPr>
          <p:cNvPr id="42" name="Group 41"/>
          <p:cNvGrpSpPr/>
          <p:nvPr/>
        </p:nvGrpSpPr>
        <p:grpSpPr>
          <a:xfrm>
            <a:off x="3077958" y="2470176"/>
            <a:ext cx="659606" cy="213417"/>
            <a:chOff x="5008358" y="1626896"/>
            <a:chExt cx="659606" cy="213417"/>
          </a:xfrm>
        </p:grpSpPr>
        <p:sp>
          <p:nvSpPr>
            <p:cNvPr id="40" name="TextBox 39"/>
            <p:cNvSpPr txBox="1"/>
            <p:nvPr/>
          </p:nvSpPr>
          <p:spPr>
            <a:xfrm>
              <a:off x="5008358" y="1626896"/>
              <a:ext cx="659606" cy="1066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600" b="0">
                  <a:solidFill>
                    <a:srgbClr val="494B45"/>
                  </a:solidFill>
                  <a:latin typeface="Roboto"/>
                </a:rPr>
                <a:t>Windows 10/11,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008358" y="1733576"/>
              <a:ext cx="659606" cy="10673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600" b="0">
                  <a:solidFill>
                    <a:srgbClr val="494B45"/>
                  </a:solidFill>
                  <a:latin typeface="Roboto"/>
                </a:rPr>
                <a:t>Linux, or macOS</a:t>
              </a: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458432" y="4113880"/>
            <a:ext cx="933926" cy="1280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00" b="1">
                <a:solidFill>
                  <a:srgbClr val="494B45"/>
                </a:solidFill>
                <a:latin typeface="Roboto Slab"/>
              </a:rPr>
              <a:t>Machine Learning</a:t>
            </a:r>
          </a:p>
        </p:txBody>
      </p:sp>
      <p:grpSp>
        <p:nvGrpSpPr>
          <p:cNvPr id="48" name="Group 47"/>
          <p:cNvGrpSpPr/>
          <p:nvPr/>
        </p:nvGrpSpPr>
        <p:grpSpPr>
          <a:xfrm>
            <a:off x="3014321" y="3964537"/>
            <a:ext cx="786879" cy="426776"/>
            <a:chOff x="4944721" y="3121257"/>
            <a:chExt cx="786879" cy="426776"/>
          </a:xfrm>
        </p:grpSpPr>
        <p:sp>
          <p:nvSpPr>
            <p:cNvPr id="44" name="TextBox 43"/>
            <p:cNvSpPr txBox="1"/>
            <p:nvPr/>
          </p:nvSpPr>
          <p:spPr>
            <a:xfrm>
              <a:off x="4944721" y="3121257"/>
              <a:ext cx="786879" cy="1066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600" b="0">
                  <a:solidFill>
                    <a:srgbClr val="494B45"/>
                  </a:solidFill>
                  <a:latin typeface="Roboto"/>
                </a:rPr>
                <a:t>scikit-learn for mod-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944721" y="3227936"/>
              <a:ext cx="786879" cy="1066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600" b="0">
                  <a:solidFill>
                    <a:srgbClr val="494B45"/>
                  </a:solidFill>
                  <a:latin typeface="Roboto"/>
                </a:rPr>
                <a:t>els and metrics;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4944721" y="3334616"/>
              <a:ext cx="786879" cy="1066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600" b="0">
                  <a:solidFill>
                    <a:srgbClr val="494B45"/>
                  </a:solidFill>
                  <a:latin typeface="Roboto"/>
                </a:rPr>
                <a:t>statsmodels for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4944721" y="3441296"/>
              <a:ext cx="786879" cy="10673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600" b="0">
                  <a:solidFill>
                    <a:srgbClr val="494B45"/>
                  </a:solidFill>
                  <a:latin typeface="Roboto"/>
                </a:rPr>
                <a:t>summaries</a:t>
              </a:r>
            </a:p>
          </p:txBody>
        </p:sp>
      </p:grpSp>
      <p:sp>
        <p:nvSpPr>
          <p:cNvPr id="49" name="TextBox 48"/>
          <p:cNvSpPr txBox="1"/>
          <p:nvPr/>
        </p:nvSpPr>
        <p:spPr>
          <a:xfrm>
            <a:off x="3054860" y="2128589"/>
            <a:ext cx="705802" cy="1280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00" b="1">
                <a:solidFill>
                  <a:srgbClr val="E7E8E6"/>
                </a:solidFill>
                <a:latin typeface="Roboto Slab"/>
              </a:rPr>
              <a:t>Requirements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58429" y="2128589"/>
            <a:ext cx="456237" cy="1280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800" b="1" dirty="0">
                <a:solidFill>
                  <a:srgbClr val="E7E8E6"/>
                </a:solidFill>
                <a:latin typeface="Roboto Slab"/>
              </a:rPr>
              <a:t>Category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58432" y="4807664"/>
            <a:ext cx="379333" cy="1280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00" b="1">
                <a:solidFill>
                  <a:srgbClr val="494B45"/>
                </a:solidFill>
                <a:latin typeface="Roboto Slab"/>
              </a:rPr>
              <a:t>Dataset</a:t>
            </a:r>
          </a:p>
        </p:txBody>
      </p:sp>
      <p:grpSp>
        <p:nvGrpSpPr>
          <p:cNvPr id="57" name="Group 56"/>
          <p:cNvGrpSpPr/>
          <p:nvPr/>
        </p:nvGrpSpPr>
        <p:grpSpPr>
          <a:xfrm>
            <a:off x="3007768" y="4604982"/>
            <a:ext cx="799985" cy="533456"/>
            <a:chOff x="4938168" y="3761702"/>
            <a:chExt cx="799985" cy="533456"/>
          </a:xfrm>
        </p:grpSpPr>
        <p:sp>
          <p:nvSpPr>
            <p:cNvPr id="52" name="TextBox 51"/>
            <p:cNvSpPr txBox="1"/>
            <p:nvPr/>
          </p:nvSpPr>
          <p:spPr>
            <a:xfrm>
              <a:off x="4938168" y="3761702"/>
              <a:ext cx="799985" cy="1066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600" b="0">
                  <a:solidFill>
                    <a:srgbClr val="494B45"/>
                  </a:solidFill>
                  <a:latin typeface="Roboto"/>
                </a:rPr>
                <a:t>UCI Machine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4938168" y="3868382"/>
              <a:ext cx="799985" cy="106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600" b="0">
                  <a:solidFill>
                    <a:srgbClr val="494B45"/>
                  </a:solidFill>
                  <a:latin typeface="Roboto"/>
                </a:rPr>
                <a:t>Learning Repository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4938168" y="3975062"/>
              <a:ext cx="799985" cy="1066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600" b="0">
                  <a:solidFill>
                    <a:srgbClr val="494B45"/>
                  </a:solidFill>
                  <a:latin typeface="Roboto"/>
                </a:rPr>
                <a:t>– Student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4938168" y="4081742"/>
              <a:ext cx="799985" cy="1066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600" b="0">
                  <a:solidFill>
                    <a:srgbClr val="494B45"/>
                  </a:solidFill>
                  <a:latin typeface="Roboto"/>
                </a:rPr>
                <a:t>Performance Data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4938168" y="4188422"/>
              <a:ext cx="799985" cy="1067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600" b="0">
                  <a:solidFill>
                    <a:srgbClr val="494B45"/>
                  </a:solidFill>
                  <a:latin typeface="Roboto"/>
                </a:rPr>
                <a:t>Set</a:t>
              </a:r>
            </a:p>
          </p:txBody>
        </p:sp>
      </p:grpSp>
      <p:sp>
        <p:nvSpPr>
          <p:cNvPr id="58" name="TextBox 57"/>
          <p:cNvSpPr txBox="1"/>
          <p:nvPr/>
        </p:nvSpPr>
        <p:spPr>
          <a:xfrm>
            <a:off x="1458432" y="5352018"/>
            <a:ext cx="794375" cy="1280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00" b="1">
                <a:solidFill>
                  <a:srgbClr val="494B45"/>
                </a:solidFill>
                <a:latin typeface="Roboto Slab"/>
              </a:rPr>
              <a:t>Version Control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120582" y="5362696"/>
            <a:ext cx="574357" cy="106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00" b="0">
                <a:solidFill>
                  <a:srgbClr val="494B45"/>
                </a:solidFill>
                <a:latin typeface="Roboto"/>
              </a:rPr>
              <a:t>Git and GitHub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458432" y="2512839"/>
            <a:ext cx="908570" cy="1280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800" b="1">
                <a:solidFill>
                  <a:srgbClr val="494B45"/>
                </a:solidFill>
                <a:latin typeface="Roboto Slab"/>
              </a:rPr>
              <a:t>Operating System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6B3E9B7-6056-E553-6E90-2A822BA27D00}"/>
              </a:ext>
            </a:extLst>
          </p:cNvPr>
          <p:cNvSpPr txBox="1"/>
          <p:nvPr/>
        </p:nvSpPr>
        <p:spPr>
          <a:xfrm>
            <a:off x="-305322" y="145953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Software Requirements</a:t>
            </a:r>
          </a:p>
        </p:txBody>
      </p:sp>
      <p:sp>
        <p:nvSpPr>
          <p:cNvPr id="59" name="Rounded Rectangle 2"/>
          <p:cNvSpPr/>
          <p:nvPr/>
        </p:nvSpPr>
        <p:spPr>
          <a:xfrm>
            <a:off x="5528125" y="2436912"/>
            <a:ext cx="2162947" cy="1363878"/>
          </a:xfrm>
          <a:custGeom>
            <a:avLst/>
            <a:gdLst/>
            <a:ahLst/>
            <a:cxnLst/>
            <a:rect l="0" t="0" r="0" b="0"/>
            <a:pathLst>
              <a:path w="2162947" h="1363878">
                <a:moveTo>
                  <a:pt x="0" y="0"/>
                </a:moveTo>
                <a:lnTo>
                  <a:pt x="2162947" y="0"/>
                </a:lnTo>
                <a:lnTo>
                  <a:pt x="2162947" y="1363878"/>
                </a:lnTo>
                <a:lnTo>
                  <a:pt x="0" y="1363878"/>
                </a:lnTo>
                <a:lnTo>
                  <a:pt x="0" y="0"/>
                </a:lnTo>
                <a:close/>
              </a:path>
            </a:pathLst>
          </a:custGeom>
          <a:noFill/>
          <a:ln w="11265">
            <a:solidFill>
              <a:srgbClr val="E7E8E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4"/>
          <p:cNvSpPr/>
          <p:nvPr/>
        </p:nvSpPr>
        <p:spPr>
          <a:xfrm>
            <a:off x="7691119" y="2436912"/>
            <a:ext cx="2161471" cy="1363878"/>
          </a:xfrm>
          <a:custGeom>
            <a:avLst/>
            <a:gdLst/>
            <a:ahLst/>
            <a:cxnLst/>
            <a:rect l="0" t="0" r="0" b="0"/>
            <a:pathLst>
              <a:path w="2161471" h="1363878">
                <a:moveTo>
                  <a:pt x="0" y="0"/>
                </a:moveTo>
                <a:lnTo>
                  <a:pt x="2161471" y="0"/>
                </a:lnTo>
                <a:lnTo>
                  <a:pt x="2161471" y="1363878"/>
                </a:lnTo>
                <a:lnTo>
                  <a:pt x="0" y="1363878"/>
                </a:lnTo>
                <a:lnTo>
                  <a:pt x="0" y="0"/>
                </a:lnTo>
                <a:close/>
              </a:path>
            </a:pathLst>
          </a:custGeom>
          <a:noFill/>
          <a:ln w="11265">
            <a:solidFill>
              <a:srgbClr val="E7E8E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63" name="Group 62"/>
          <p:cNvGrpSpPr/>
          <p:nvPr/>
        </p:nvGrpSpPr>
        <p:grpSpPr>
          <a:xfrm>
            <a:off x="7656829" y="2273805"/>
            <a:ext cx="68580" cy="1526952"/>
            <a:chOff x="4537709" y="1430525"/>
            <a:chExt cx="68580" cy="1526952"/>
          </a:xfrm>
        </p:grpSpPr>
        <p:sp>
          <p:nvSpPr>
            <p:cNvPr id="64" name="Rounded Rectangle 5"/>
            <p:cNvSpPr/>
            <p:nvPr/>
          </p:nvSpPr>
          <p:spPr>
            <a:xfrm>
              <a:off x="4571999" y="1448051"/>
              <a:ext cx="9525" cy="1509426"/>
            </a:xfrm>
            <a:custGeom>
              <a:avLst/>
              <a:gdLst/>
              <a:ahLst/>
              <a:cxnLst/>
              <a:rect l="0" t="0" r="0" b="0"/>
              <a:pathLst>
                <a:path w="9525" h="1509426">
                  <a:moveTo>
                    <a:pt x="0" y="1509426"/>
                  </a:moveTo>
                  <a:cubicBezTo>
                    <a:pt x="0" y="692562"/>
                    <a:pt x="0" y="790955"/>
                    <a:pt x="0" y="0"/>
                  </a:cubicBezTo>
                </a:path>
              </a:pathLst>
            </a:custGeom>
            <a:noFill/>
            <a:ln w="11265">
              <a:solidFill>
                <a:srgbClr val="494B45">
                  <a:alpha val="50000"/>
                </a:srgbClr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Rounded Rectangle 6"/>
            <p:cNvSpPr/>
            <p:nvPr/>
          </p:nvSpPr>
          <p:spPr>
            <a:xfrm>
              <a:off x="4537709" y="1430525"/>
              <a:ext cx="68580" cy="59055"/>
            </a:xfrm>
            <a:custGeom>
              <a:avLst/>
              <a:gdLst/>
              <a:ahLst/>
              <a:cxnLst/>
              <a:rect l="0" t="0" r="0" b="0"/>
              <a:pathLst>
                <a:path w="68580" h="59055">
                  <a:moveTo>
                    <a:pt x="34290" y="0"/>
                  </a:moveTo>
                  <a:lnTo>
                    <a:pt x="68580" y="59055"/>
                  </a:lnTo>
                  <a:lnTo>
                    <a:pt x="0" y="59055"/>
                  </a:lnTo>
                  <a:close/>
                </a:path>
              </a:pathLst>
            </a:custGeom>
            <a:solidFill>
              <a:srgbClr val="494B45"/>
            </a:solidFill>
            <a:ln w="11265">
              <a:solidFill>
                <a:srgbClr val="494B45">
                  <a:alpha val="50000"/>
                </a:srgbClr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66" name="Rounded Rectangle 9"/>
          <p:cNvSpPr/>
          <p:nvPr/>
        </p:nvSpPr>
        <p:spPr>
          <a:xfrm>
            <a:off x="5527299" y="3800792"/>
            <a:ext cx="2164608" cy="1363879"/>
          </a:xfrm>
          <a:custGeom>
            <a:avLst/>
            <a:gdLst/>
            <a:ahLst/>
            <a:cxnLst/>
            <a:rect l="0" t="0" r="0" b="0"/>
            <a:pathLst>
              <a:path w="2164608" h="1363879">
                <a:moveTo>
                  <a:pt x="0" y="0"/>
                </a:moveTo>
                <a:lnTo>
                  <a:pt x="2164608" y="0"/>
                </a:lnTo>
                <a:lnTo>
                  <a:pt x="2164608" y="1363879"/>
                </a:lnTo>
                <a:lnTo>
                  <a:pt x="0" y="1363879"/>
                </a:lnTo>
                <a:lnTo>
                  <a:pt x="0" y="0"/>
                </a:lnTo>
                <a:close/>
              </a:path>
            </a:pathLst>
          </a:custGeom>
          <a:noFill/>
          <a:ln w="11265">
            <a:solidFill>
              <a:srgbClr val="E7E8E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11"/>
          <p:cNvSpPr/>
          <p:nvPr/>
        </p:nvSpPr>
        <p:spPr>
          <a:xfrm>
            <a:off x="7691900" y="3800792"/>
            <a:ext cx="2161470" cy="1363879"/>
          </a:xfrm>
          <a:custGeom>
            <a:avLst/>
            <a:gdLst/>
            <a:ahLst/>
            <a:cxnLst/>
            <a:rect l="0" t="0" r="0" b="0"/>
            <a:pathLst>
              <a:path w="2161470" h="1363879">
                <a:moveTo>
                  <a:pt x="0" y="0"/>
                </a:moveTo>
                <a:lnTo>
                  <a:pt x="2161470" y="0"/>
                </a:lnTo>
                <a:lnTo>
                  <a:pt x="2161470" y="1363879"/>
                </a:lnTo>
                <a:lnTo>
                  <a:pt x="0" y="1363879"/>
                </a:lnTo>
                <a:lnTo>
                  <a:pt x="0" y="0"/>
                </a:lnTo>
                <a:close/>
              </a:path>
            </a:pathLst>
          </a:custGeom>
          <a:noFill/>
          <a:ln w="11265">
            <a:solidFill>
              <a:srgbClr val="E7E8E6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68" name="Group 67"/>
          <p:cNvGrpSpPr/>
          <p:nvPr/>
        </p:nvGrpSpPr>
        <p:grpSpPr>
          <a:xfrm>
            <a:off x="7656829" y="3800792"/>
            <a:ext cx="68580" cy="1526857"/>
            <a:chOff x="4537709" y="2957512"/>
            <a:chExt cx="68580" cy="1526857"/>
          </a:xfrm>
        </p:grpSpPr>
        <p:sp>
          <p:nvSpPr>
            <p:cNvPr id="69" name="Rounded Rectangle 12"/>
            <p:cNvSpPr/>
            <p:nvPr/>
          </p:nvSpPr>
          <p:spPr>
            <a:xfrm>
              <a:off x="4571999" y="2957512"/>
              <a:ext cx="9525" cy="1509522"/>
            </a:xfrm>
            <a:custGeom>
              <a:avLst/>
              <a:gdLst/>
              <a:ahLst/>
              <a:cxnLst/>
              <a:rect l="0" t="0" r="0" b="0"/>
              <a:pathLst>
                <a:path w="9525" h="1509522">
                  <a:moveTo>
                    <a:pt x="0" y="1509522"/>
                  </a:moveTo>
                  <a:cubicBezTo>
                    <a:pt x="0" y="718470"/>
                    <a:pt x="0" y="816863"/>
                    <a:pt x="0" y="0"/>
                  </a:cubicBezTo>
                </a:path>
              </a:pathLst>
            </a:custGeom>
            <a:noFill/>
            <a:ln w="11265">
              <a:solidFill>
                <a:srgbClr val="494B45">
                  <a:alpha val="50000"/>
                </a:srgbClr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Rounded Rectangle 13"/>
            <p:cNvSpPr/>
            <p:nvPr/>
          </p:nvSpPr>
          <p:spPr>
            <a:xfrm>
              <a:off x="4537709" y="4425315"/>
              <a:ext cx="68580" cy="59054"/>
            </a:xfrm>
            <a:custGeom>
              <a:avLst/>
              <a:gdLst/>
              <a:ahLst/>
              <a:cxnLst/>
              <a:rect l="0" t="0" r="0" b="0"/>
              <a:pathLst>
                <a:path w="68580" h="59054">
                  <a:moveTo>
                    <a:pt x="34290" y="59054"/>
                  </a:moveTo>
                  <a:lnTo>
                    <a:pt x="0" y="0"/>
                  </a:lnTo>
                  <a:lnTo>
                    <a:pt x="68580" y="0"/>
                  </a:lnTo>
                  <a:close/>
                </a:path>
              </a:pathLst>
            </a:custGeom>
            <a:solidFill>
              <a:srgbClr val="494B45"/>
            </a:solidFill>
            <a:ln w="11265">
              <a:solidFill>
                <a:srgbClr val="494B45">
                  <a:alpha val="50000"/>
                </a:srgbClr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71" name="Group 70"/>
          <p:cNvGrpSpPr/>
          <p:nvPr/>
        </p:nvGrpSpPr>
        <p:grpSpPr>
          <a:xfrm>
            <a:off x="5364971" y="3766502"/>
            <a:ext cx="4652962" cy="68580"/>
            <a:chOff x="2245851" y="2923222"/>
            <a:chExt cx="4652962" cy="68580"/>
          </a:xfrm>
        </p:grpSpPr>
        <p:sp>
          <p:nvSpPr>
            <p:cNvPr id="72" name="Rounded Rectangle 15"/>
            <p:cNvSpPr/>
            <p:nvPr/>
          </p:nvSpPr>
          <p:spPr>
            <a:xfrm>
              <a:off x="2262520" y="2957512"/>
              <a:ext cx="4619243" cy="9525"/>
            </a:xfrm>
            <a:custGeom>
              <a:avLst/>
              <a:gdLst/>
              <a:ahLst/>
              <a:cxnLst/>
              <a:rect l="0" t="0" r="0" b="0"/>
              <a:pathLst>
                <a:path w="4619243" h="9525">
                  <a:moveTo>
                    <a:pt x="0" y="0"/>
                  </a:moveTo>
                  <a:cubicBezTo>
                    <a:pt x="1251108" y="0"/>
                    <a:pt x="3368325" y="0"/>
                    <a:pt x="4619243" y="0"/>
                  </a:cubicBezTo>
                </a:path>
              </a:pathLst>
            </a:custGeom>
            <a:noFill/>
            <a:ln w="11265">
              <a:solidFill>
                <a:srgbClr val="494B45">
                  <a:alpha val="50000"/>
                </a:srgbClr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3" name="Rounded Rectangle 16"/>
            <p:cNvSpPr/>
            <p:nvPr/>
          </p:nvSpPr>
          <p:spPr>
            <a:xfrm>
              <a:off x="2245851" y="2923222"/>
              <a:ext cx="59055" cy="68580"/>
            </a:xfrm>
            <a:custGeom>
              <a:avLst/>
              <a:gdLst/>
              <a:ahLst/>
              <a:cxnLst/>
              <a:rect l="0" t="0" r="0" b="0"/>
              <a:pathLst>
                <a:path w="59055" h="68580">
                  <a:moveTo>
                    <a:pt x="0" y="34290"/>
                  </a:moveTo>
                  <a:lnTo>
                    <a:pt x="59055" y="0"/>
                  </a:lnTo>
                  <a:lnTo>
                    <a:pt x="59055" y="68580"/>
                  </a:lnTo>
                  <a:close/>
                </a:path>
              </a:pathLst>
            </a:custGeom>
            <a:solidFill>
              <a:srgbClr val="494B45"/>
            </a:solidFill>
            <a:ln w="11265">
              <a:solidFill>
                <a:srgbClr val="494B45">
                  <a:alpha val="50000"/>
                </a:srgbClr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4" name="Rounded Rectangle 17"/>
            <p:cNvSpPr/>
            <p:nvPr/>
          </p:nvSpPr>
          <p:spPr>
            <a:xfrm>
              <a:off x="6838806" y="2923222"/>
              <a:ext cx="60007" cy="68580"/>
            </a:xfrm>
            <a:custGeom>
              <a:avLst/>
              <a:gdLst/>
              <a:ahLst/>
              <a:cxnLst/>
              <a:rect l="0" t="0" r="0" b="0"/>
              <a:pathLst>
                <a:path w="60007" h="68580">
                  <a:moveTo>
                    <a:pt x="60007" y="34290"/>
                  </a:moveTo>
                  <a:lnTo>
                    <a:pt x="0" y="685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4B45"/>
            </a:solidFill>
            <a:ln w="11265">
              <a:solidFill>
                <a:srgbClr val="494B45">
                  <a:alpha val="50000"/>
                </a:srgbClr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75" name="TextBox 74"/>
          <p:cNvSpPr txBox="1"/>
          <p:nvPr/>
        </p:nvSpPr>
        <p:spPr>
          <a:xfrm>
            <a:off x="6082686" y="3067798"/>
            <a:ext cx="1053826" cy="1622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00" b="1">
                <a:solidFill>
                  <a:srgbClr val="494B45"/>
                </a:solidFill>
                <a:latin typeface="Roboto Slab"/>
              </a:rPr>
              <a:t>Minimum Specs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091782" y="3067798"/>
            <a:ext cx="1361713" cy="1622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00" b="1">
                <a:solidFill>
                  <a:srgbClr val="494B45"/>
                </a:solidFill>
                <a:latin typeface="Roboto Slab"/>
              </a:rPr>
              <a:t>Recommended Specs</a:t>
            </a:r>
          </a:p>
        </p:txBody>
      </p:sp>
      <p:grpSp>
        <p:nvGrpSpPr>
          <p:cNvPr id="77" name="Group 76"/>
          <p:cNvGrpSpPr/>
          <p:nvPr/>
        </p:nvGrpSpPr>
        <p:grpSpPr>
          <a:xfrm>
            <a:off x="5864563" y="3320195"/>
            <a:ext cx="1490071" cy="300312"/>
            <a:chOff x="2745443" y="2476915"/>
            <a:chExt cx="1490071" cy="300312"/>
          </a:xfrm>
        </p:grpSpPr>
        <p:sp>
          <p:nvSpPr>
            <p:cNvPr id="78" name="TextBox 77"/>
            <p:cNvSpPr txBox="1"/>
            <p:nvPr/>
          </p:nvSpPr>
          <p:spPr>
            <a:xfrm>
              <a:off x="2745443" y="2476915"/>
              <a:ext cx="1490071" cy="1501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494B45"/>
                  </a:solidFill>
                  <a:latin typeface="Roboto"/>
                </a:rPr>
                <a:t>Baseline hardware for project</a:t>
              </a: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2745443" y="2627028"/>
              <a:ext cx="1490071" cy="1501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494B45"/>
                  </a:solidFill>
                  <a:latin typeface="Roboto"/>
                </a:rPr>
                <a:t>operation</a:t>
              </a:r>
            </a:p>
          </p:txBody>
        </p:sp>
      </p:grpSp>
      <p:grpSp>
        <p:nvGrpSpPr>
          <p:cNvPr id="80" name="Group 79"/>
          <p:cNvGrpSpPr/>
          <p:nvPr/>
        </p:nvGrpSpPr>
        <p:grpSpPr>
          <a:xfrm>
            <a:off x="8019926" y="3320195"/>
            <a:ext cx="1505426" cy="300312"/>
            <a:chOff x="4900806" y="2476915"/>
            <a:chExt cx="1505426" cy="300312"/>
          </a:xfrm>
        </p:grpSpPr>
        <p:sp>
          <p:nvSpPr>
            <p:cNvPr id="81" name="TextBox 80"/>
            <p:cNvSpPr txBox="1"/>
            <p:nvPr/>
          </p:nvSpPr>
          <p:spPr>
            <a:xfrm>
              <a:off x="4900806" y="2476915"/>
              <a:ext cx="1505426" cy="1501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494B45"/>
                  </a:solidFill>
                  <a:latin typeface="Roboto"/>
                </a:rPr>
                <a:t>Enhanced hardware for better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4900806" y="2627028"/>
              <a:ext cx="1505426" cy="1501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494B45"/>
                  </a:solidFill>
                  <a:latin typeface="Roboto"/>
                </a:rPr>
                <a:t>performance</a:t>
              </a:r>
            </a:p>
          </p:txBody>
        </p:sp>
      </p:grpSp>
      <p:sp>
        <p:nvSpPr>
          <p:cNvPr id="83" name="TextBox 82"/>
          <p:cNvSpPr txBox="1"/>
          <p:nvPr/>
        </p:nvSpPr>
        <p:spPr>
          <a:xfrm>
            <a:off x="5047812" y="3752119"/>
            <a:ext cx="198348" cy="973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600" b="0">
                <a:solidFill>
                  <a:srgbClr val="494B45"/>
                </a:solidFill>
                <a:latin typeface="Roboto"/>
              </a:rPr>
              <a:t>Basic</a:t>
            </a:r>
          </a:p>
        </p:txBody>
      </p:sp>
      <p:sp>
        <p:nvSpPr>
          <p:cNvPr id="84" name="Rounded Rectangle 28"/>
          <p:cNvSpPr/>
          <p:nvPr/>
        </p:nvSpPr>
        <p:spPr>
          <a:xfrm>
            <a:off x="8592385" y="2617167"/>
            <a:ext cx="312439" cy="349240"/>
          </a:xfrm>
          <a:custGeom>
            <a:avLst/>
            <a:gdLst/>
            <a:ahLst/>
            <a:cxnLst/>
            <a:rect l="0" t="0" r="0" b="0"/>
            <a:pathLst>
              <a:path w="312439" h="349240">
                <a:moveTo>
                  <a:pt x="180253" y="306382"/>
                </a:moveTo>
                <a:lnTo>
                  <a:pt x="72101" y="306382"/>
                </a:lnTo>
                <a:cubicBezTo>
                  <a:pt x="63088" y="306382"/>
                  <a:pt x="57080" y="300360"/>
                  <a:pt x="57080" y="291328"/>
                </a:cubicBezTo>
                <a:lnTo>
                  <a:pt x="57080" y="26320"/>
                </a:lnTo>
                <a:cubicBezTo>
                  <a:pt x="57080" y="17287"/>
                  <a:pt x="63088" y="11265"/>
                  <a:pt x="72101" y="11265"/>
                </a:cubicBezTo>
                <a:lnTo>
                  <a:pt x="180253" y="26320"/>
                </a:lnTo>
                <a:close/>
                <a:moveTo>
                  <a:pt x="0" y="0"/>
                </a:moveTo>
                <a:moveTo>
                  <a:pt x="117164" y="17720"/>
                </a:moveTo>
                <a:lnTo>
                  <a:pt x="117164" y="305732"/>
                </a:lnTo>
                <a:moveTo>
                  <a:pt x="0" y="0"/>
                </a:moveTo>
                <a:moveTo>
                  <a:pt x="180253" y="26286"/>
                </a:moveTo>
                <a:lnTo>
                  <a:pt x="285401" y="68346"/>
                </a:lnTo>
                <a:cubicBezTo>
                  <a:pt x="297417" y="72852"/>
                  <a:pt x="304928" y="83367"/>
                  <a:pt x="304928" y="96886"/>
                </a:cubicBezTo>
                <a:lnTo>
                  <a:pt x="304928" y="291361"/>
                </a:lnTo>
                <a:cubicBezTo>
                  <a:pt x="304928" y="300374"/>
                  <a:pt x="298920" y="306382"/>
                  <a:pt x="289907" y="306382"/>
                </a:cubicBezTo>
                <a:lnTo>
                  <a:pt x="180253" y="306382"/>
                </a:lnTo>
                <a:moveTo>
                  <a:pt x="48067" y="349240"/>
                </a:moveTo>
                <a:lnTo>
                  <a:pt x="312439" y="349240"/>
                </a:lnTo>
                <a:moveTo>
                  <a:pt x="0" y="0"/>
                </a:moveTo>
                <a:moveTo>
                  <a:pt x="117164" y="306382"/>
                </a:moveTo>
                <a:lnTo>
                  <a:pt x="87122" y="349240"/>
                </a:lnTo>
                <a:moveTo>
                  <a:pt x="0" y="0"/>
                </a:moveTo>
                <a:moveTo>
                  <a:pt x="243341" y="306382"/>
                </a:moveTo>
                <a:lnTo>
                  <a:pt x="273384" y="349240"/>
                </a:lnTo>
                <a:moveTo>
                  <a:pt x="180253" y="305732"/>
                </a:moveTo>
                <a:lnTo>
                  <a:pt x="180253" y="349240"/>
                </a:lnTo>
                <a:moveTo>
                  <a:pt x="247825" y="195014"/>
                </a:moveTo>
                <a:cubicBezTo>
                  <a:pt x="257581" y="195014"/>
                  <a:pt x="265490" y="183274"/>
                  <a:pt x="265490" y="168790"/>
                </a:cubicBezTo>
                <a:cubicBezTo>
                  <a:pt x="265490" y="154307"/>
                  <a:pt x="257581" y="142565"/>
                  <a:pt x="247825" y="142565"/>
                </a:cubicBezTo>
                <a:cubicBezTo>
                  <a:pt x="238071" y="142565"/>
                  <a:pt x="230162" y="154307"/>
                  <a:pt x="230162" y="168790"/>
                </a:cubicBezTo>
                <a:cubicBezTo>
                  <a:pt x="230162" y="183274"/>
                  <a:pt x="238071" y="195014"/>
                  <a:pt x="247825" y="195014"/>
                </a:cubicBezTo>
                <a:close/>
              </a:path>
            </a:pathLst>
          </a:custGeom>
          <a:noFill/>
          <a:ln w="11265">
            <a:solidFill>
              <a:srgbClr val="494B4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ounded Rectangle 29"/>
          <p:cNvSpPr/>
          <p:nvPr/>
        </p:nvSpPr>
        <p:spPr>
          <a:xfrm>
            <a:off x="6440612" y="2647209"/>
            <a:ext cx="337974" cy="300422"/>
          </a:xfrm>
          <a:custGeom>
            <a:avLst/>
            <a:gdLst/>
            <a:ahLst/>
            <a:cxnLst/>
            <a:rect l="0" t="0" r="0" b="0"/>
            <a:pathLst>
              <a:path w="337974" h="300422">
                <a:moveTo>
                  <a:pt x="79610" y="165232"/>
                </a:moveTo>
                <a:cubicBezTo>
                  <a:pt x="92054" y="165232"/>
                  <a:pt x="102142" y="155144"/>
                  <a:pt x="102142" y="142700"/>
                </a:cubicBezTo>
                <a:cubicBezTo>
                  <a:pt x="102142" y="130257"/>
                  <a:pt x="92054" y="120168"/>
                  <a:pt x="79610" y="120168"/>
                </a:cubicBezTo>
                <a:cubicBezTo>
                  <a:pt x="67166" y="120168"/>
                  <a:pt x="57079" y="130257"/>
                  <a:pt x="57079" y="142700"/>
                </a:cubicBezTo>
                <a:cubicBezTo>
                  <a:pt x="57079" y="155144"/>
                  <a:pt x="67166" y="165232"/>
                  <a:pt x="79610" y="165232"/>
                </a:cubicBezTo>
                <a:close/>
                <a:moveTo>
                  <a:pt x="169737" y="82616"/>
                </a:moveTo>
                <a:cubicBezTo>
                  <a:pt x="182182" y="82616"/>
                  <a:pt x="192268" y="72528"/>
                  <a:pt x="192268" y="60084"/>
                </a:cubicBezTo>
                <a:cubicBezTo>
                  <a:pt x="192268" y="47640"/>
                  <a:pt x="182182" y="37552"/>
                  <a:pt x="169737" y="37552"/>
                </a:cubicBezTo>
                <a:cubicBezTo>
                  <a:pt x="157293" y="37552"/>
                  <a:pt x="147205" y="47640"/>
                  <a:pt x="147205" y="60084"/>
                </a:cubicBezTo>
                <a:cubicBezTo>
                  <a:pt x="147205" y="72528"/>
                  <a:pt x="157293" y="82616"/>
                  <a:pt x="169737" y="82616"/>
                </a:cubicBezTo>
                <a:close/>
                <a:moveTo>
                  <a:pt x="169737" y="82616"/>
                </a:moveTo>
                <a:lnTo>
                  <a:pt x="169737" y="262869"/>
                </a:lnTo>
                <a:moveTo>
                  <a:pt x="102142" y="142700"/>
                </a:moveTo>
                <a:lnTo>
                  <a:pt x="114159" y="142700"/>
                </a:lnTo>
                <a:cubicBezTo>
                  <a:pt x="123172" y="142700"/>
                  <a:pt x="129180" y="148708"/>
                  <a:pt x="129180" y="157721"/>
                </a:cubicBezTo>
                <a:lnTo>
                  <a:pt x="129180" y="262869"/>
                </a:lnTo>
                <a:moveTo>
                  <a:pt x="259863" y="165232"/>
                </a:moveTo>
                <a:cubicBezTo>
                  <a:pt x="272308" y="165232"/>
                  <a:pt x="282395" y="155144"/>
                  <a:pt x="282395" y="142700"/>
                </a:cubicBezTo>
                <a:cubicBezTo>
                  <a:pt x="282395" y="130257"/>
                  <a:pt x="272308" y="120168"/>
                  <a:pt x="259863" y="120168"/>
                </a:cubicBezTo>
                <a:cubicBezTo>
                  <a:pt x="247420" y="120168"/>
                  <a:pt x="237332" y="130257"/>
                  <a:pt x="237332" y="142700"/>
                </a:cubicBezTo>
                <a:cubicBezTo>
                  <a:pt x="237332" y="155144"/>
                  <a:pt x="247420" y="165232"/>
                  <a:pt x="259863" y="165232"/>
                </a:cubicBezTo>
                <a:close/>
                <a:moveTo>
                  <a:pt x="210295" y="262869"/>
                </a:moveTo>
                <a:lnTo>
                  <a:pt x="210295" y="157721"/>
                </a:lnTo>
                <a:cubicBezTo>
                  <a:pt x="210295" y="148708"/>
                  <a:pt x="216303" y="142700"/>
                  <a:pt x="225316" y="142700"/>
                </a:cubicBezTo>
                <a:lnTo>
                  <a:pt x="237333" y="142700"/>
                </a:lnTo>
                <a:moveTo>
                  <a:pt x="315443" y="270379"/>
                </a:moveTo>
                <a:cubicBezTo>
                  <a:pt x="315443" y="286903"/>
                  <a:pt x="301924" y="300422"/>
                  <a:pt x="285401" y="300422"/>
                </a:cubicBezTo>
                <a:lnTo>
                  <a:pt x="52573" y="300422"/>
                </a:lnTo>
                <a:cubicBezTo>
                  <a:pt x="36050" y="300422"/>
                  <a:pt x="22531" y="286903"/>
                  <a:pt x="22531" y="270379"/>
                </a:cubicBezTo>
                <a:lnTo>
                  <a:pt x="22531" y="30042"/>
                </a:lnTo>
                <a:cubicBezTo>
                  <a:pt x="22531" y="13519"/>
                  <a:pt x="36050" y="0"/>
                  <a:pt x="52573" y="0"/>
                </a:cubicBezTo>
                <a:lnTo>
                  <a:pt x="285401" y="0"/>
                </a:lnTo>
                <a:cubicBezTo>
                  <a:pt x="301924" y="0"/>
                  <a:pt x="315443" y="13519"/>
                  <a:pt x="315443" y="30042"/>
                </a:cubicBezTo>
                <a:close/>
                <a:moveTo>
                  <a:pt x="0" y="37552"/>
                </a:moveTo>
                <a:lnTo>
                  <a:pt x="22531" y="37552"/>
                </a:lnTo>
                <a:moveTo>
                  <a:pt x="0" y="112658"/>
                </a:moveTo>
                <a:lnTo>
                  <a:pt x="22531" y="112658"/>
                </a:lnTo>
                <a:moveTo>
                  <a:pt x="0" y="187763"/>
                </a:moveTo>
                <a:lnTo>
                  <a:pt x="22531" y="187763"/>
                </a:lnTo>
                <a:moveTo>
                  <a:pt x="315443" y="112658"/>
                </a:moveTo>
                <a:lnTo>
                  <a:pt x="337974" y="112658"/>
                </a:lnTo>
                <a:moveTo>
                  <a:pt x="315443" y="187763"/>
                </a:moveTo>
                <a:lnTo>
                  <a:pt x="337974" y="187763"/>
                </a:lnTo>
                <a:moveTo>
                  <a:pt x="0" y="262869"/>
                </a:moveTo>
                <a:lnTo>
                  <a:pt x="22531" y="262869"/>
                </a:lnTo>
                <a:moveTo>
                  <a:pt x="337974" y="37552"/>
                </a:moveTo>
                <a:lnTo>
                  <a:pt x="315443" y="37552"/>
                </a:lnTo>
                <a:moveTo>
                  <a:pt x="337974" y="262869"/>
                </a:moveTo>
                <a:lnTo>
                  <a:pt x="315443" y="262869"/>
                </a:lnTo>
              </a:path>
            </a:pathLst>
          </a:custGeom>
          <a:noFill/>
          <a:ln w="11265">
            <a:solidFill>
              <a:srgbClr val="494B4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7550149" y="2069192"/>
            <a:ext cx="281940" cy="973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00" b="0">
                <a:solidFill>
                  <a:srgbClr val="494B45"/>
                </a:solidFill>
                <a:latin typeface="Roboto"/>
              </a:rPr>
              <a:t>Optimal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143588" y="3752119"/>
            <a:ext cx="356711" cy="973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600" b="0" dirty="0" err="1">
                <a:solidFill>
                  <a:srgbClr val="494B45"/>
                </a:solidFill>
                <a:latin typeface="Roboto"/>
              </a:rPr>
              <a:t>Advnced</a:t>
            </a:r>
            <a:endParaRPr sz="600" b="0" dirty="0">
              <a:solidFill>
                <a:srgbClr val="494B45"/>
              </a:solidFill>
              <a:latin typeface="Roboto"/>
            </a:endParaRPr>
          </a:p>
        </p:txBody>
      </p:sp>
      <p:sp>
        <p:nvSpPr>
          <p:cNvPr id="88" name="Rounded Rectangle 32"/>
          <p:cNvSpPr/>
          <p:nvPr/>
        </p:nvSpPr>
        <p:spPr>
          <a:xfrm>
            <a:off x="6436857" y="4026108"/>
            <a:ext cx="345485" cy="270379"/>
          </a:xfrm>
          <a:custGeom>
            <a:avLst/>
            <a:gdLst/>
            <a:ahLst/>
            <a:cxnLst/>
            <a:rect l="0" t="0" r="0" b="0"/>
            <a:pathLst>
              <a:path w="345485" h="270379">
                <a:moveTo>
                  <a:pt x="30042" y="150211"/>
                </a:moveTo>
                <a:lnTo>
                  <a:pt x="315443" y="150211"/>
                </a:lnTo>
                <a:cubicBezTo>
                  <a:pt x="315443" y="150211"/>
                  <a:pt x="345485" y="150211"/>
                  <a:pt x="345485" y="180253"/>
                </a:cubicBezTo>
                <a:lnTo>
                  <a:pt x="345485" y="240337"/>
                </a:lnTo>
                <a:cubicBezTo>
                  <a:pt x="345485" y="240337"/>
                  <a:pt x="345485" y="270379"/>
                  <a:pt x="315443" y="270379"/>
                </a:cubicBezTo>
                <a:lnTo>
                  <a:pt x="30042" y="270379"/>
                </a:lnTo>
                <a:cubicBezTo>
                  <a:pt x="30042" y="270379"/>
                  <a:pt x="0" y="270379"/>
                  <a:pt x="0" y="240337"/>
                </a:cubicBezTo>
                <a:lnTo>
                  <a:pt x="0" y="180253"/>
                </a:lnTo>
                <a:cubicBezTo>
                  <a:pt x="0" y="180253"/>
                  <a:pt x="0" y="150211"/>
                  <a:pt x="30042" y="150211"/>
                </a:cubicBezTo>
                <a:moveTo>
                  <a:pt x="45063" y="225316"/>
                </a:moveTo>
                <a:lnTo>
                  <a:pt x="300422" y="225316"/>
                </a:lnTo>
                <a:moveTo>
                  <a:pt x="296666" y="187763"/>
                </a:moveTo>
                <a:cubicBezTo>
                  <a:pt x="294592" y="187763"/>
                  <a:pt x="292911" y="189445"/>
                  <a:pt x="292911" y="191519"/>
                </a:cubicBezTo>
                <a:cubicBezTo>
                  <a:pt x="292911" y="193593"/>
                  <a:pt x="294592" y="195274"/>
                  <a:pt x="296666" y="195274"/>
                </a:cubicBezTo>
                <a:cubicBezTo>
                  <a:pt x="298740" y="195274"/>
                  <a:pt x="300422" y="193593"/>
                  <a:pt x="300422" y="191519"/>
                </a:cubicBezTo>
                <a:cubicBezTo>
                  <a:pt x="300422" y="189445"/>
                  <a:pt x="298740" y="187763"/>
                  <a:pt x="296666" y="187763"/>
                </a:cubicBezTo>
                <a:lnTo>
                  <a:pt x="296666" y="187763"/>
                </a:lnTo>
                <a:moveTo>
                  <a:pt x="344554" y="172817"/>
                </a:moveTo>
                <a:lnTo>
                  <a:pt x="307617" y="28254"/>
                </a:lnTo>
                <a:cubicBezTo>
                  <a:pt x="303369" y="11631"/>
                  <a:pt x="288393" y="1"/>
                  <a:pt x="271236" y="0"/>
                </a:cubicBezTo>
                <a:lnTo>
                  <a:pt x="74249" y="0"/>
                </a:lnTo>
                <a:cubicBezTo>
                  <a:pt x="57091" y="1"/>
                  <a:pt x="42116" y="11631"/>
                  <a:pt x="37868" y="28254"/>
                </a:cubicBezTo>
                <a:lnTo>
                  <a:pt x="931" y="172817"/>
                </a:lnTo>
              </a:path>
            </a:pathLst>
          </a:custGeom>
          <a:noFill/>
          <a:ln w="11265">
            <a:solidFill>
              <a:srgbClr val="494B4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ounded Rectangle 33"/>
          <p:cNvSpPr/>
          <p:nvPr/>
        </p:nvSpPr>
        <p:spPr>
          <a:xfrm>
            <a:off x="8600437" y="3988525"/>
            <a:ext cx="345485" cy="345485"/>
          </a:xfrm>
          <a:custGeom>
            <a:avLst/>
            <a:gdLst/>
            <a:ahLst/>
            <a:cxnLst/>
            <a:rect l="0" t="0" r="0" b="0"/>
            <a:pathLst>
              <a:path w="345485" h="345485">
                <a:moveTo>
                  <a:pt x="0" y="172742"/>
                </a:moveTo>
                <a:cubicBezTo>
                  <a:pt x="0" y="268145"/>
                  <a:pt x="77339" y="345485"/>
                  <a:pt x="172742" y="345485"/>
                </a:cubicBezTo>
                <a:cubicBezTo>
                  <a:pt x="268145" y="345485"/>
                  <a:pt x="345485" y="268145"/>
                  <a:pt x="345485" y="172742"/>
                </a:cubicBezTo>
                <a:cubicBezTo>
                  <a:pt x="345485" y="77339"/>
                  <a:pt x="268145" y="0"/>
                  <a:pt x="172742" y="0"/>
                </a:cubicBezTo>
                <a:cubicBezTo>
                  <a:pt x="77339" y="0"/>
                  <a:pt x="0" y="77339"/>
                  <a:pt x="0" y="172742"/>
                </a:cubicBezTo>
                <a:close/>
                <a:moveTo>
                  <a:pt x="90126" y="108903"/>
                </a:moveTo>
                <a:cubicBezTo>
                  <a:pt x="90126" y="90237"/>
                  <a:pt x="105258" y="75105"/>
                  <a:pt x="123924" y="75105"/>
                </a:cubicBezTo>
                <a:cubicBezTo>
                  <a:pt x="142589" y="75105"/>
                  <a:pt x="157721" y="90237"/>
                  <a:pt x="157721" y="108903"/>
                </a:cubicBezTo>
                <a:cubicBezTo>
                  <a:pt x="157721" y="127568"/>
                  <a:pt x="142589" y="142700"/>
                  <a:pt x="123924" y="142700"/>
                </a:cubicBezTo>
                <a:cubicBezTo>
                  <a:pt x="105258" y="142700"/>
                  <a:pt x="90126" y="127568"/>
                  <a:pt x="90126" y="108903"/>
                </a:cubicBezTo>
                <a:close/>
                <a:moveTo>
                  <a:pt x="187763" y="259114"/>
                </a:moveTo>
                <a:lnTo>
                  <a:pt x="187763" y="259114"/>
                </a:lnTo>
                <a:cubicBezTo>
                  <a:pt x="187763" y="248744"/>
                  <a:pt x="196170" y="240337"/>
                  <a:pt x="206540" y="240337"/>
                </a:cubicBezTo>
                <a:cubicBezTo>
                  <a:pt x="216910" y="240337"/>
                  <a:pt x="225316" y="248744"/>
                  <a:pt x="225316" y="259114"/>
                </a:cubicBezTo>
                <a:cubicBezTo>
                  <a:pt x="225316" y="269484"/>
                  <a:pt x="216910" y="277890"/>
                  <a:pt x="206540" y="277890"/>
                </a:cubicBezTo>
                <a:cubicBezTo>
                  <a:pt x="196170" y="277890"/>
                  <a:pt x="187763" y="269484"/>
                  <a:pt x="187763" y="259114"/>
                </a:cubicBezTo>
                <a:close/>
                <a:moveTo>
                  <a:pt x="247848" y="146455"/>
                </a:moveTo>
                <a:lnTo>
                  <a:pt x="247848" y="146455"/>
                </a:lnTo>
                <a:cubicBezTo>
                  <a:pt x="247848" y="131937"/>
                  <a:pt x="259617" y="120168"/>
                  <a:pt x="274135" y="120168"/>
                </a:cubicBezTo>
                <a:cubicBezTo>
                  <a:pt x="288653" y="120168"/>
                  <a:pt x="300422" y="131937"/>
                  <a:pt x="300422" y="146455"/>
                </a:cubicBezTo>
                <a:cubicBezTo>
                  <a:pt x="300422" y="160973"/>
                  <a:pt x="288653" y="172742"/>
                  <a:pt x="274135" y="172742"/>
                </a:cubicBezTo>
                <a:cubicBezTo>
                  <a:pt x="259617" y="172742"/>
                  <a:pt x="247848" y="160973"/>
                  <a:pt x="247848" y="146455"/>
                </a:cubicBezTo>
                <a:close/>
                <a:moveTo>
                  <a:pt x="247848" y="142730"/>
                </a:moveTo>
                <a:cubicBezTo>
                  <a:pt x="223295" y="119788"/>
                  <a:pt x="191300" y="106456"/>
                  <a:pt x="157721" y="105177"/>
                </a:cubicBezTo>
                <a:moveTo>
                  <a:pt x="307917" y="277890"/>
                </a:moveTo>
                <a:cubicBezTo>
                  <a:pt x="307917" y="210295"/>
                  <a:pt x="285386" y="180253"/>
                  <a:pt x="285386" y="180253"/>
                </a:cubicBezTo>
                <a:lnTo>
                  <a:pt x="279377" y="172232"/>
                </a:lnTo>
                <a:moveTo>
                  <a:pt x="262869" y="122632"/>
                </a:moveTo>
                <a:cubicBezTo>
                  <a:pt x="263806" y="88650"/>
                  <a:pt x="258721" y="54770"/>
                  <a:pt x="247848" y="22561"/>
                </a:cubicBezTo>
                <a:lnTo>
                  <a:pt x="245189" y="15877"/>
                </a:lnTo>
                <a:moveTo>
                  <a:pt x="255358" y="165262"/>
                </a:moveTo>
                <a:cubicBezTo>
                  <a:pt x="253477" y="196284"/>
                  <a:pt x="242296" y="226020"/>
                  <a:pt x="223273" y="250597"/>
                </a:cubicBezTo>
                <a:moveTo>
                  <a:pt x="197557" y="275607"/>
                </a:moveTo>
                <a:lnTo>
                  <a:pt x="195274" y="277920"/>
                </a:lnTo>
                <a:cubicBezTo>
                  <a:pt x="195274" y="277920"/>
                  <a:pt x="157721" y="315473"/>
                  <a:pt x="75105" y="315473"/>
                </a:cubicBezTo>
                <a:moveTo>
                  <a:pt x="172742" y="30"/>
                </a:moveTo>
                <a:cubicBezTo>
                  <a:pt x="152192" y="22009"/>
                  <a:pt x="135668" y="47432"/>
                  <a:pt x="123924" y="75135"/>
                </a:cubicBezTo>
                <a:moveTo>
                  <a:pt x="215898" y="340092"/>
                </a:moveTo>
                <a:lnTo>
                  <a:pt x="210295" y="338005"/>
                </a:lnTo>
                <a:cubicBezTo>
                  <a:pt x="210295" y="338005"/>
                  <a:pt x="145704" y="314061"/>
                  <a:pt x="120168" y="262899"/>
                </a:cubicBezTo>
                <a:cubicBezTo>
                  <a:pt x="102236" y="225539"/>
                  <a:pt x="96963" y="183354"/>
                  <a:pt x="105147" y="142730"/>
                </a:cubicBezTo>
                <a:lnTo>
                  <a:pt x="106379" y="137803"/>
                </a:lnTo>
                <a:moveTo>
                  <a:pt x="90126" y="108903"/>
                </a:moveTo>
                <a:cubicBezTo>
                  <a:pt x="90126" y="108903"/>
                  <a:pt x="32505" y="113033"/>
                  <a:pt x="3379" y="138539"/>
                </a:cubicBezTo>
                <a:moveTo>
                  <a:pt x="194883" y="244393"/>
                </a:moveTo>
                <a:cubicBezTo>
                  <a:pt x="110870" y="194403"/>
                  <a:pt x="7510" y="210295"/>
                  <a:pt x="7510" y="210295"/>
                </a:cubicBezTo>
                <a:lnTo>
                  <a:pt x="4205" y="210806"/>
                </a:lnTo>
              </a:path>
            </a:pathLst>
          </a:custGeom>
          <a:noFill/>
          <a:ln w="11265">
            <a:solidFill>
              <a:srgbClr val="494B45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6150313" y="4431678"/>
            <a:ext cx="918571" cy="1622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00" b="1">
                <a:solidFill>
                  <a:srgbClr val="494B45"/>
                </a:solidFill>
                <a:latin typeface="Roboto Slab"/>
              </a:rPr>
              <a:t>Storage Needs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356930" y="4431678"/>
            <a:ext cx="831418" cy="1622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1000" b="1">
                <a:solidFill>
                  <a:srgbClr val="494B45"/>
                </a:solidFill>
                <a:latin typeface="Roboto Slab"/>
              </a:rPr>
              <a:t>Connectivity</a:t>
            </a:r>
          </a:p>
        </p:txBody>
      </p:sp>
      <p:grpSp>
        <p:nvGrpSpPr>
          <p:cNvPr id="92" name="Group 91"/>
          <p:cNvGrpSpPr/>
          <p:nvPr/>
        </p:nvGrpSpPr>
        <p:grpSpPr>
          <a:xfrm>
            <a:off x="5821825" y="4684073"/>
            <a:ext cx="1575549" cy="300312"/>
            <a:chOff x="2702705" y="3840793"/>
            <a:chExt cx="1575549" cy="300312"/>
          </a:xfrm>
        </p:grpSpPr>
        <p:sp>
          <p:nvSpPr>
            <p:cNvPr id="93" name="TextBox 92"/>
            <p:cNvSpPr txBox="1"/>
            <p:nvPr/>
          </p:nvSpPr>
          <p:spPr>
            <a:xfrm>
              <a:off x="2702705" y="3840793"/>
              <a:ext cx="1575549" cy="1501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494B45"/>
                  </a:solidFill>
                  <a:latin typeface="Roboto"/>
                </a:rPr>
                <a:t>Required disk space for project</a:t>
              </a: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2702705" y="3990906"/>
              <a:ext cx="1575549" cy="1501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494B45"/>
                  </a:solidFill>
                  <a:latin typeface="Roboto"/>
                </a:rPr>
                <a:t>files</a:t>
              </a:r>
            </a:p>
          </p:txBody>
        </p:sp>
      </p:grpSp>
      <p:grpSp>
        <p:nvGrpSpPr>
          <p:cNvPr id="95" name="Group 94"/>
          <p:cNvGrpSpPr/>
          <p:nvPr/>
        </p:nvGrpSpPr>
        <p:grpSpPr>
          <a:xfrm>
            <a:off x="7967538" y="4684073"/>
            <a:ext cx="1610201" cy="300312"/>
            <a:chOff x="4848418" y="3840793"/>
            <a:chExt cx="1610201" cy="300312"/>
          </a:xfrm>
        </p:grpSpPr>
        <p:sp>
          <p:nvSpPr>
            <p:cNvPr id="96" name="TextBox 95"/>
            <p:cNvSpPr txBox="1"/>
            <p:nvPr/>
          </p:nvSpPr>
          <p:spPr>
            <a:xfrm>
              <a:off x="4848418" y="3840793"/>
              <a:ext cx="1610201" cy="1501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494B45"/>
                  </a:solidFill>
                  <a:latin typeface="Roboto"/>
                </a:rPr>
                <a:t>Network requirements for cloud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4848418" y="3990906"/>
              <a:ext cx="1610201" cy="1501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>
              <a:noAutofit/>
            </a:bodyPr>
            <a:lstStyle/>
            <a:p>
              <a:pPr algn="ctr"/>
              <a:r>
                <a:rPr sz="800" b="0">
                  <a:solidFill>
                    <a:srgbClr val="494B45"/>
                  </a:solidFill>
                  <a:latin typeface="Roboto"/>
                </a:rPr>
                <a:t>deployment</a:t>
              </a:r>
            </a:p>
          </p:txBody>
        </p:sp>
      </p:grpSp>
      <p:sp>
        <p:nvSpPr>
          <p:cNvPr id="98" name="TextBox 97"/>
          <p:cNvSpPr txBox="1"/>
          <p:nvPr/>
        </p:nvSpPr>
        <p:spPr>
          <a:xfrm>
            <a:off x="7527598" y="5435047"/>
            <a:ext cx="327059" cy="973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 algn="ctr"/>
            <a:r>
              <a:rPr sz="600" b="0">
                <a:solidFill>
                  <a:srgbClr val="494B45"/>
                </a:solidFill>
                <a:latin typeface="Roboto"/>
              </a:rPr>
              <a:t>Essential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AD558AB9-0D78-A58C-BEBB-FD64AD727857}"/>
              </a:ext>
            </a:extLst>
          </p:cNvPr>
          <p:cNvSpPr txBox="1"/>
          <p:nvPr/>
        </p:nvSpPr>
        <p:spPr>
          <a:xfrm>
            <a:off x="5146986" y="141757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Hardware Requirements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4C0386-7BAA-8E5C-EF4B-78B4D8993542}"/>
              </a:ext>
            </a:extLst>
          </p:cNvPr>
          <p:cNvSpPr txBox="1"/>
          <p:nvPr/>
        </p:nvSpPr>
        <p:spPr>
          <a:xfrm>
            <a:off x="955040" y="2164080"/>
            <a:ext cx="818896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buFont typeface="Wingdings" panose="05000000000000000000" pitchFamily="2" charset="2"/>
              <a:buChar char="v"/>
            </a:pPr>
            <a:r>
              <a:rPr lang="en-IN" sz="2800" b="1" dirty="0"/>
              <a:t>Early identification</a:t>
            </a:r>
            <a:r>
              <a:rPr lang="en-IN" sz="2800" dirty="0"/>
              <a:t> of students who may need academic support. </a:t>
            </a:r>
          </a:p>
          <a:p>
            <a:pPr marL="457200" lvl="0" indent="-457200">
              <a:buFont typeface="Wingdings" panose="05000000000000000000" pitchFamily="2" charset="2"/>
              <a:buChar char="v"/>
            </a:pPr>
            <a:r>
              <a:rPr lang="en-IN" sz="2800" dirty="0"/>
              <a:t>Helps teachers and institutions </a:t>
            </a:r>
            <a:r>
              <a:rPr lang="en-IN" sz="2800" b="1" dirty="0"/>
              <a:t>monitor student performance</a:t>
            </a:r>
            <a:r>
              <a:rPr lang="en-IN" sz="2800" dirty="0"/>
              <a:t>. </a:t>
            </a:r>
          </a:p>
          <a:p>
            <a:pPr marL="457200" lvl="0" indent="-457200">
              <a:buFont typeface="Wingdings" panose="05000000000000000000" pitchFamily="2" charset="2"/>
              <a:buChar char="v"/>
            </a:pPr>
            <a:r>
              <a:rPr lang="en-IN" sz="2800" dirty="0"/>
              <a:t>Supports </a:t>
            </a:r>
            <a:r>
              <a:rPr lang="en-IN" sz="2800" b="1" dirty="0"/>
              <a:t>data-driven academic decision-making</a:t>
            </a:r>
            <a:r>
              <a:rPr lang="en-IN" sz="2800" dirty="0"/>
              <a:t>. </a:t>
            </a:r>
          </a:p>
          <a:p>
            <a:pPr marL="457200" lvl="0" indent="-457200">
              <a:buFont typeface="Wingdings" panose="05000000000000000000" pitchFamily="2" charset="2"/>
              <a:buChar char="v"/>
            </a:pPr>
            <a:r>
              <a:rPr lang="en-IN" sz="2800" dirty="0"/>
              <a:t>Helps identify key factors affecting </a:t>
            </a:r>
            <a:r>
              <a:rPr lang="en-IN" sz="2800" b="1" dirty="0"/>
              <a:t>academic outcomes</a:t>
            </a:r>
            <a:r>
              <a:rPr lang="en-IN" sz="2800" dirty="0"/>
              <a:t>. </a:t>
            </a:r>
          </a:p>
          <a:p>
            <a:pPr marL="457200" lvl="0" indent="-457200">
              <a:buFont typeface="Wingdings" panose="05000000000000000000" pitchFamily="2" charset="2"/>
              <a:buChar char="v"/>
            </a:pPr>
            <a:r>
              <a:rPr lang="en-IN" sz="2800" dirty="0"/>
              <a:t>Can assist in developing </a:t>
            </a:r>
            <a:r>
              <a:rPr lang="en-IN" sz="2800" b="1" dirty="0"/>
              <a:t>personalized learning and intervention strategies</a:t>
            </a:r>
            <a:r>
              <a:rPr lang="en-IN" sz="2800" dirty="0"/>
              <a:t>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70A3C71-F66B-E1C7-1C77-314C3DBD90DD}"/>
              </a:ext>
            </a:extLst>
          </p:cNvPr>
          <p:cNvSpPr txBox="1">
            <a:spLocks/>
          </p:cNvSpPr>
          <p:nvPr/>
        </p:nvSpPr>
        <p:spPr>
          <a:xfrm>
            <a:off x="685800" y="408710"/>
            <a:ext cx="7772400" cy="1470025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u="sng" dirty="0">
                <a:cs typeface="Calibri"/>
              </a:rPr>
              <a:t>Applications</a:t>
            </a:r>
          </a:p>
        </p:txBody>
      </p:sp>
      <p:pic>
        <p:nvPicPr>
          <p:cNvPr id="6" name="Picture 5" descr="images.jpg">
            <a:extLst>
              <a:ext uri="{FF2B5EF4-FFF2-40B4-BE49-F238E27FC236}">
                <a16:creationId xmlns:a16="http://schemas.microsoft.com/office/drawing/2014/main" id="{6D41BC0E-A195-4322-A66C-C133442A9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4294" y="611910"/>
            <a:ext cx="1266825" cy="126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70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19C08C-205C-29CC-B773-12CD9B02DB6B}"/>
              </a:ext>
            </a:extLst>
          </p:cNvPr>
          <p:cNvSpPr txBox="1"/>
          <p:nvPr/>
        </p:nvSpPr>
        <p:spPr>
          <a:xfrm>
            <a:off x="640080" y="423000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u="sng" dirty="0">
                <a:ea typeface="Calibri"/>
                <a:cs typeface="Calibri"/>
              </a:rPr>
              <a:t>Limitations</a:t>
            </a:r>
            <a:endParaRPr lang="en-IN" b="1" u="sng" dirty="0"/>
          </a:p>
        </p:txBody>
      </p:sp>
      <p:pic>
        <p:nvPicPr>
          <p:cNvPr id="5" name="Picture 4" descr="images.jpg">
            <a:extLst>
              <a:ext uri="{FF2B5EF4-FFF2-40B4-BE49-F238E27FC236}">
                <a16:creationId xmlns:a16="http://schemas.microsoft.com/office/drawing/2014/main" id="{54B0117A-28F3-EE22-A852-943F798B3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2414" y="340133"/>
            <a:ext cx="1266825" cy="12668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D3AA0C3-1AEE-FF64-F2FA-C81267485726}"/>
              </a:ext>
            </a:extLst>
          </p:cNvPr>
          <p:cNvSpPr txBox="1"/>
          <p:nvPr/>
        </p:nvSpPr>
        <p:spPr>
          <a:xfrm>
            <a:off x="792480" y="1606958"/>
            <a:ext cx="835152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buFont typeface="Wingdings" panose="05000000000000000000" pitchFamily="2" charset="2"/>
              <a:buChar char="v"/>
            </a:pPr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Limited to the </a:t>
            </a:r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available dataset</a:t>
            </a:r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and its quality. </a:t>
            </a:r>
          </a:p>
          <a:p>
            <a:pPr marL="457200" lvl="0" indent="-457200">
              <a:buFont typeface="Wingdings" panose="05000000000000000000" pitchFamily="2" charset="2"/>
              <a:buChar char="v"/>
            </a:pPr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May not consider all factors affecting student performance. </a:t>
            </a:r>
          </a:p>
          <a:p>
            <a:pPr marL="457200" lvl="0" indent="-457200">
              <a:buFont typeface="Wingdings" panose="05000000000000000000" pitchFamily="2" charset="2"/>
              <a:buChar char="v"/>
            </a:pPr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Model accuracy depends on the </a:t>
            </a:r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size and representativeness of the data</a:t>
            </a:r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</a:t>
            </a:r>
          </a:p>
          <a:p>
            <a:pPr marL="457200" lvl="0" indent="-457200">
              <a:buFont typeface="Wingdings" panose="05000000000000000000" pitchFamily="2" charset="2"/>
              <a:buChar char="v"/>
            </a:pPr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Results may not generalize to </a:t>
            </a:r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all institutions or student groups</a:t>
            </a:r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</a:t>
            </a:r>
          </a:p>
          <a:p>
            <a:pPr marL="457200" lvl="0" indent="-457200">
              <a:buFont typeface="Wingdings" panose="05000000000000000000" pitchFamily="2" charset="2"/>
              <a:buChar char="v"/>
            </a:pPr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Predictions indicate relationships but </a:t>
            </a:r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do not establish causation</a:t>
            </a:r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78954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2CCCCE6D-E26B-B624-952B-2EA8A1733F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5841" y="3599727"/>
            <a:ext cx="4870040" cy="297376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A679C3C-19DF-EE01-2B64-F86FB3DA12DA}"/>
              </a:ext>
            </a:extLst>
          </p:cNvPr>
          <p:cNvSpPr txBox="1"/>
          <p:nvPr/>
        </p:nvSpPr>
        <p:spPr>
          <a:xfrm>
            <a:off x="567160" y="284505"/>
            <a:ext cx="686089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000" b="1" u="sng" dirty="0">
                <a:cs typeface="Calibri"/>
              </a:rPr>
              <a:t>Conclusion and Future Scope</a:t>
            </a:r>
          </a:p>
        </p:txBody>
      </p:sp>
      <p:pic>
        <p:nvPicPr>
          <p:cNvPr id="5" name="Picture 4" descr="images.jpg">
            <a:extLst>
              <a:ext uri="{FF2B5EF4-FFF2-40B4-BE49-F238E27FC236}">
                <a16:creationId xmlns:a16="http://schemas.microsoft.com/office/drawing/2014/main" id="{F113FA6A-9BDF-8ECC-1C14-70CB73E2FD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2414" y="340133"/>
            <a:ext cx="1266825" cy="12668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BD1ACBC-5DD6-88D4-A425-91EFA161F652}"/>
              </a:ext>
            </a:extLst>
          </p:cNvPr>
          <p:cNvSpPr txBox="1"/>
          <p:nvPr/>
        </p:nvSpPr>
        <p:spPr>
          <a:xfrm>
            <a:off x="870995" y="1467108"/>
            <a:ext cx="806466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Expected Outcome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Develop a model to </a:t>
            </a:r>
            <a:r>
              <a:rPr lang="en-IN" sz="2400" b="1" dirty="0"/>
              <a:t>predict student performance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Compare </a:t>
            </a:r>
            <a:r>
              <a:rPr lang="en-IN" sz="2400" b="1" dirty="0"/>
              <a:t>Linear, Ridge, Lasso, and Random Forest</a:t>
            </a:r>
            <a:r>
              <a:rPr lang="en-IN" sz="2400" dirty="0"/>
              <a:t> regression models.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Identify the </a:t>
            </a:r>
            <a:r>
              <a:rPr lang="en-IN" sz="2400" b="1" dirty="0"/>
              <a:t>best-performing model</a:t>
            </a:r>
            <a:r>
              <a:rPr lang="en-IN" sz="2400" dirty="0"/>
              <a:t> using accuracy metrics.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Analyze key factors affecting </a:t>
            </a:r>
            <a:r>
              <a:rPr lang="en-IN" sz="2400" b="1" dirty="0"/>
              <a:t>student performance</a:t>
            </a:r>
            <a:r>
              <a:rPr lang="en-IN" sz="2400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Present results using </a:t>
            </a:r>
            <a:r>
              <a:rPr lang="en-IN" sz="2400" b="1" dirty="0"/>
              <a:t>simple visualizations</a:t>
            </a:r>
            <a:endParaRPr lang="en-IN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FA916E-9441-29FF-1258-88D6F10DBD71}"/>
              </a:ext>
            </a:extLst>
          </p:cNvPr>
          <p:cNvSpPr txBox="1"/>
          <p:nvPr/>
        </p:nvSpPr>
        <p:spPr>
          <a:xfrm>
            <a:off x="950571" y="4375229"/>
            <a:ext cx="589006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Conclusion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dirty="0"/>
              <a:t>This project will use regression techniques to </a:t>
            </a:r>
            <a:r>
              <a:rPr lang="en-IN" b="1" dirty="0"/>
              <a:t>predict student performance</a:t>
            </a:r>
            <a:r>
              <a:rPr lang="en-IN" dirty="0"/>
              <a:t> and identify the factors that influence academic outcomes. Comparing multiple models will help determine the </a:t>
            </a:r>
            <a:r>
              <a:rPr lang="en-IN" b="1" dirty="0"/>
              <a:t>most effective and reliable approach</a:t>
            </a:r>
            <a:r>
              <a:rPr lang="en-IN" dirty="0"/>
              <a:t> for accurate prediction.</a:t>
            </a:r>
          </a:p>
        </p:txBody>
      </p:sp>
    </p:spTree>
    <p:extLst>
      <p:ext uri="{BB962C8B-B14F-4D97-AF65-F5344CB8AC3E}">
        <p14:creationId xmlns:p14="http://schemas.microsoft.com/office/powerpoint/2010/main" val="36153259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images.jpg">
            <a:extLst>
              <a:ext uri="{FF2B5EF4-FFF2-40B4-BE49-F238E27FC236}">
                <a16:creationId xmlns:a16="http://schemas.microsoft.com/office/drawing/2014/main" id="{C7DEE833-A2FA-D2A6-0D4A-4831753FB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9739" y="363283"/>
            <a:ext cx="1266825" cy="126682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CAB27C4F-5D1B-B58F-F350-EB04402A87C6}"/>
              </a:ext>
            </a:extLst>
          </p:cNvPr>
          <p:cNvSpPr>
            <a:spLocks noGrp="1"/>
          </p:cNvSpPr>
          <p:nvPr/>
        </p:nvSpPr>
        <p:spPr>
          <a:xfrm>
            <a:off x="635000" y="349956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b="1" u="sng" dirty="0">
                <a:cs typeface="Calibri"/>
              </a:rPr>
              <a:t>Annexure 10 B (Screenshot :Duly Signed by Supervisor)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B7E6DEF-C139-C3C4-A329-5F66C23E21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23" t="6537" r="28729" b="6816"/>
          <a:stretch>
            <a:fillRect/>
          </a:stretch>
        </p:blipFill>
        <p:spPr>
          <a:xfrm rot="5400000">
            <a:off x="3873499" y="1640840"/>
            <a:ext cx="3733802" cy="35763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00051BC-1FA7-D996-2EAF-4E2A40FB8C76}"/>
              </a:ext>
            </a:extLst>
          </p:cNvPr>
          <p:cNvSpPr txBox="1"/>
          <p:nvPr/>
        </p:nvSpPr>
        <p:spPr>
          <a:xfrm>
            <a:off x="697375" y="238207"/>
            <a:ext cx="60940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000" b="1" u="sng" dirty="0">
                <a:cs typeface="Calibri"/>
              </a:rPr>
              <a:t>References</a:t>
            </a:r>
          </a:p>
        </p:txBody>
      </p:sp>
      <p:pic>
        <p:nvPicPr>
          <p:cNvPr id="6" name="Picture 5" descr="images.jpg">
            <a:extLst>
              <a:ext uri="{FF2B5EF4-FFF2-40B4-BE49-F238E27FC236}">
                <a16:creationId xmlns:a16="http://schemas.microsoft.com/office/drawing/2014/main" id="{B08C14BF-5C10-CA5A-8EBF-60FDA5347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9739" y="363283"/>
            <a:ext cx="1266825" cy="12668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5E37A9E-971B-2203-6F5C-1C99EAD12000}"/>
              </a:ext>
            </a:extLst>
          </p:cNvPr>
          <p:cNvSpPr txBox="1"/>
          <p:nvPr/>
        </p:nvSpPr>
        <p:spPr>
          <a:xfrm>
            <a:off x="393539" y="946094"/>
            <a:ext cx="10776031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dirty="0"/>
              <a:t>De Guzman, K. et al. (2022). Predicting Students' Academic Performance Using Regression Analysis. American Journal of Educational Research, 10(11). https://pubs.sciepub.com/education/10/11/2/index.html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dirty="0"/>
              <a:t>Students' Academic Performance Prediction using Regression: A Case Study (2020). IEEE Conference Publication. https://ieeexplore.ieee.org/document/9262346/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dirty="0"/>
              <a:t>Student Performance Prediction with Regression Approach and Data Generation (2024). Applied Sciences, MDPI, 14(3), 1148. https://www.mdpi.com/2076-3417/14/3/1148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dirty="0"/>
              <a:t>Cortez, P., &amp; Silva, A. (2008). Using Data Mining to Predict Secondary School Student Performance. UCI Machine Learning Repository – Student Performance Data Set. https://archive.ics.uci.edu/dataset/320/student+performance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dirty="0"/>
              <a:t>Scikit-learn Documentation. Machine learning in Python. https://scikit-learn.org/stable/documentation.html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dirty="0"/>
              <a:t>Pandas Documentation. Python data analysis library. https://pandas.pydata.org/docs/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8254061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718</TotalTime>
  <Words>936</Words>
  <Application>Microsoft Office PowerPoint</Application>
  <PresentationFormat>Widescreen</PresentationFormat>
  <Paragraphs>140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Roboto</vt:lpstr>
      <vt:lpstr>Roboto Slab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Rankendra Singh</dc:creator>
  <cp:keywords/>
  <dc:description>generated using python-pptx</dc:description>
  <cp:lastModifiedBy>Rankendra Singh</cp:lastModifiedBy>
  <cp:revision>5</cp:revision>
  <dcterms:created xsi:type="dcterms:W3CDTF">2013-01-27T09:14:16Z</dcterms:created>
  <dcterms:modified xsi:type="dcterms:W3CDTF">2026-08-22T07:22:50Z</dcterms:modified>
  <cp:category/>
</cp:coreProperties>
</file>